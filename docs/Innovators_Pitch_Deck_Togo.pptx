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381"/>
            <a:ext cx="1042511" cy="2000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9100" y="357981"/>
            <a:ext cx="1552257" cy="160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Idée-Action Challenge · Juillet 2026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2085657" y="195263"/>
            <a:ext cx="323850" cy="219075"/>
          </a:xfrm>
          <a:prstGeom prst="roundRect">
            <a:avLst>
              <a:gd name="adj" fmla="val 13043"/>
            </a:avLst>
          </a:prstGeom>
          <a:ln w="8731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94389" y="203994"/>
            <a:ext cx="306388" cy="40322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8" name="Shape 5"/>
          <p:cNvSpPr/>
          <p:nvPr/>
        </p:nvSpPr>
        <p:spPr>
          <a:xfrm>
            <a:off x="2094389" y="244316"/>
            <a:ext cx="306388" cy="40323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9" name="Shape 6"/>
          <p:cNvSpPr/>
          <p:nvPr/>
        </p:nvSpPr>
        <p:spPr>
          <a:xfrm>
            <a:off x="2094389" y="284639"/>
            <a:ext cx="306388" cy="40323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0" name="Shape 7"/>
          <p:cNvSpPr/>
          <p:nvPr/>
        </p:nvSpPr>
        <p:spPr>
          <a:xfrm>
            <a:off x="2094389" y="324961"/>
            <a:ext cx="306388" cy="40323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1" name="Shape 8"/>
          <p:cNvSpPr/>
          <p:nvPr/>
        </p:nvSpPr>
        <p:spPr>
          <a:xfrm>
            <a:off x="2094389" y="365284"/>
            <a:ext cx="306388" cy="40322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2" name="Shape 9"/>
          <p:cNvSpPr/>
          <p:nvPr/>
        </p:nvSpPr>
        <p:spPr>
          <a:xfrm>
            <a:off x="2094389" y="203994"/>
            <a:ext cx="131445" cy="13144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3" name="Text 10"/>
          <p:cNvSpPr/>
          <p:nvPr/>
        </p:nvSpPr>
        <p:spPr>
          <a:xfrm>
            <a:off x="2056289" y="203994"/>
            <a:ext cx="207645" cy="169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14" name="Shape 11"/>
          <p:cNvSpPr/>
          <p:nvPr/>
        </p:nvSpPr>
        <p:spPr>
          <a:xfrm>
            <a:off x="10628788" y="1428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D977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90688" y="142875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000263" y="208756"/>
            <a:ext cx="772636" cy="230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724525" y="1816894"/>
            <a:ext cx="742950" cy="742950"/>
          </a:xfrm>
          <a:prstGeom prst="roundRect">
            <a:avLst>
              <a:gd name="adj" fmla="val 17949"/>
            </a:avLst>
          </a:prstGeom>
          <a:solidFill>
            <a:srgbClr val="D97700"/>
          </a:solidFill>
          <a:ln/>
        </p:spPr>
      </p:sp>
      <p:sp>
        <p:nvSpPr>
          <p:cNvPr id="18" name="Text 15"/>
          <p:cNvSpPr/>
          <p:nvPr/>
        </p:nvSpPr>
        <p:spPr>
          <a:xfrm>
            <a:off x="5686425" y="1816894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3410963" y="2807494"/>
            <a:ext cx="5369914" cy="7429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50" b="1" spc="-1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ExamBoost </a:t>
            </a:r>
            <a:pPr algn="ctr" indent="0" marL="0">
              <a:lnSpc>
                <a:spcPct val="100000"/>
              </a:lnSpc>
              <a:buNone/>
            </a:pPr>
            <a:r>
              <a:rPr lang="en-US" sz="5550" b="1" spc="-166" kern="0" dirty="0">
                <a:solidFill>
                  <a:srgbClr val="F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</a:t>
            </a:r>
            <a:endParaRPr lang="en-US" sz="5550" dirty="0"/>
          </a:p>
        </p:txBody>
      </p:sp>
      <p:sp>
        <p:nvSpPr>
          <p:cNvPr id="20" name="Text 17"/>
          <p:cNvSpPr/>
          <p:nvPr/>
        </p:nvSpPr>
        <p:spPr>
          <a:xfrm>
            <a:off x="3395755" y="3759994"/>
            <a:ext cx="5400491" cy="3262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exam preparation for every Togolese student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143500" y="4352925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22" name="Shape 19"/>
          <p:cNvSpPr/>
          <p:nvPr/>
        </p:nvSpPr>
        <p:spPr>
          <a:xfrm>
            <a:off x="4356894" y="4686300"/>
            <a:ext cx="680720" cy="354806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23" name="Text 20"/>
          <p:cNvSpPr/>
          <p:nvPr/>
        </p:nvSpPr>
        <p:spPr>
          <a:xfrm>
            <a:off x="4490244" y="4772025"/>
            <a:ext cx="41402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BEPC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151913" y="4686300"/>
            <a:ext cx="607377" cy="354806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25" name="Text 22"/>
          <p:cNvSpPr/>
          <p:nvPr/>
        </p:nvSpPr>
        <p:spPr>
          <a:xfrm>
            <a:off x="5285263" y="4772025"/>
            <a:ext cx="340677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873591" y="4686300"/>
            <a:ext cx="1068229" cy="35480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8731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5673" y="4780756"/>
            <a:ext cx="784066" cy="20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AI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056120" y="4686300"/>
            <a:ext cx="778827" cy="35480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8731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98201" y="4780756"/>
            <a:ext cx="494665" cy="20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-182880" y="6368256"/>
            <a:ext cx="12557760" cy="203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3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Présenté au DJANTA Tech Hub · Idée-Action Challenge · 24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70580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85800" y="742950"/>
            <a:ext cx="11145012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Togo, 2024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85800" y="955675"/>
            <a:ext cx="11145012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silent crisis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685800" y="1605280"/>
            <a:ext cx="5324475" cy="1982629"/>
          </a:xfrm>
          <a:prstGeom prst="roundRect">
            <a:avLst>
              <a:gd name="adj" fmla="val 7687"/>
            </a:avLst>
          </a:prstGeom>
          <a:solidFill>
            <a:srgbClr val="FFF5F5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2103755"/>
            <a:ext cx="4934807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50" b="1" spc="-139" kern="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4650" dirty="0"/>
          </a:p>
        </p:txBody>
      </p:sp>
      <p:sp>
        <p:nvSpPr>
          <p:cNvPr id="10" name="Text 7"/>
          <p:cNvSpPr/>
          <p:nvPr/>
        </p:nvSpPr>
        <p:spPr>
          <a:xfrm>
            <a:off x="952500" y="2711450"/>
            <a:ext cx="49348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BEPC pass rate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952500" y="2949575"/>
            <a:ext cx="493480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Education, Togo · 2024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181725" y="1605280"/>
            <a:ext cx="5324475" cy="1982629"/>
          </a:xfrm>
          <a:prstGeom prst="roundRect">
            <a:avLst>
              <a:gd name="adj" fmla="val 7687"/>
            </a:avLst>
          </a:prstGeom>
          <a:solidFill>
            <a:srgbClr val="FFF8F0"/>
          </a:solidFill>
          <a:ln/>
        </p:spPr>
      </p:sp>
      <p:sp>
        <p:nvSpPr>
          <p:cNvPr id="13" name="Text 10"/>
          <p:cNvSpPr/>
          <p:nvPr/>
        </p:nvSpPr>
        <p:spPr>
          <a:xfrm>
            <a:off x="6448425" y="2103755"/>
            <a:ext cx="4934807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50" b="1" spc="-139" kern="0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46.7%</a:t>
            </a:r>
            <a:endParaRPr lang="en-US" sz="4650" dirty="0"/>
          </a:p>
        </p:txBody>
      </p:sp>
      <p:sp>
        <p:nvSpPr>
          <p:cNvPr id="14" name="Text 11"/>
          <p:cNvSpPr/>
          <p:nvPr/>
        </p:nvSpPr>
        <p:spPr>
          <a:xfrm>
            <a:off x="6448425" y="2711450"/>
            <a:ext cx="493480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2 pass rate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448425" y="2949575"/>
            <a:ext cx="493480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Education, Togo · 2024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85800" y="3759359"/>
            <a:ext cx="5324475" cy="1982629"/>
          </a:xfrm>
          <a:prstGeom prst="roundRect">
            <a:avLst>
              <a:gd name="adj" fmla="val 7687"/>
            </a:avLst>
          </a:prstGeom>
          <a:solidFill>
            <a:srgbClr val="FFF8F0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4272597"/>
            <a:ext cx="4934807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50" b="1" spc="-139" kern="0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4650" dirty="0"/>
          </a:p>
        </p:txBody>
      </p:sp>
      <p:sp>
        <p:nvSpPr>
          <p:cNvPr id="18" name="Text 15"/>
          <p:cNvSpPr/>
          <p:nvPr/>
        </p:nvSpPr>
        <p:spPr>
          <a:xfrm>
            <a:off x="952500" y="4880293"/>
            <a:ext cx="4934807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can't read proficiently at age 10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52500" y="5088890"/>
            <a:ext cx="493480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Learning Poverty · 2019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181725" y="3759359"/>
            <a:ext cx="5324475" cy="1982629"/>
          </a:xfrm>
          <a:prstGeom prst="roundRect">
            <a:avLst>
              <a:gd name="adj" fmla="val 7687"/>
            </a:avLst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6448425" y="4272597"/>
            <a:ext cx="4934807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50" b="1" spc="-139" kern="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50" dirty="0"/>
          </a:p>
        </p:txBody>
      </p:sp>
      <p:sp>
        <p:nvSpPr>
          <p:cNvPr id="22" name="Text 19"/>
          <p:cNvSpPr/>
          <p:nvPr/>
        </p:nvSpPr>
        <p:spPr>
          <a:xfrm>
            <a:off x="6448425" y="4880293"/>
            <a:ext cx="4934807" cy="2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tools aligned with the Togolese curriculum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48425" y="5088890"/>
            <a:ext cx="493480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survey, Lomé · June 2026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084057" y="5932487"/>
            <a:ext cx="802388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“Togolese students don't have the tools to prepare effectively for their national exams — regardless of how hard they work.”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523494" y="6261100"/>
            <a:ext cx="1114501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Ministry of Education Togo (2024) · World Bank (2019) · Field Survey Lomé (2026)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559064" y="6508750"/>
            <a:ext cx="46148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7634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85800" y="1619091"/>
            <a:ext cx="7848600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ExamBoost Togo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85800" y="2135346"/>
            <a:ext cx="784860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that adapts to every student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685800" y="2712402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006837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26702"/>
            <a:ext cx="247650" cy="2476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33500" y="2712402"/>
            <a:ext cx="3543806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AI-adaptive revision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33500" y="2959259"/>
            <a:ext cx="3543806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SRS + IRT algorithm targets each weak spot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3398202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D97700">
              <a:alpha val="12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512502"/>
            <a:ext cx="247650" cy="2476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33500" y="3398202"/>
            <a:ext cx="2670486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 questions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33500" y="3645059"/>
            <a:ext cx="2670486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BEPC/BAC past papers, 2010–2025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85800" y="4084002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006837">
              <a:alpha val="1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198302"/>
            <a:ext cx="247650" cy="2476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3500" y="4084002"/>
            <a:ext cx="2956797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33500" y="4330859"/>
            <a:ext cx="2956797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Android 5+ with no internet connection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85800" y="4846002"/>
            <a:ext cx="2082006" cy="392906"/>
          </a:xfrm>
          <a:prstGeom prst="roundRect">
            <a:avLst>
              <a:gd name="adj" fmla="val 50000"/>
            </a:avLst>
          </a:prstGeom>
          <a:solidFill>
            <a:srgbClr val="006837">
              <a:alpha val="1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961413"/>
            <a:ext cx="161925" cy="1619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23950" y="4955064"/>
            <a:ext cx="1529556" cy="2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every student</a:t>
            </a:r>
            <a:endParaRPr lang="en-US" sz="1125" dirty="0"/>
          </a:p>
        </p:txBody>
      </p:sp>
      <p:sp>
        <p:nvSpPr>
          <p:cNvPr id="23" name="Shape 16"/>
          <p:cNvSpPr/>
          <p:nvPr/>
        </p:nvSpPr>
        <p:spPr>
          <a:xfrm>
            <a:off x="8839200" y="762000"/>
            <a:ext cx="2667000" cy="5334000"/>
          </a:xfrm>
          <a:prstGeom prst="roundRect">
            <a:avLst>
              <a:gd name="adj" fmla="val 12143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665970" y="847725"/>
            <a:ext cx="1013460" cy="17145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Shape 18"/>
          <p:cNvSpPr/>
          <p:nvPr/>
        </p:nvSpPr>
        <p:spPr>
          <a:xfrm>
            <a:off x="8924925" y="847725"/>
            <a:ext cx="2495550" cy="5162550"/>
          </a:xfrm>
          <a:prstGeom prst="roundRect">
            <a:avLst>
              <a:gd name="adj" fmla="val 9924"/>
            </a:avLst>
          </a:prstGeom>
          <a:solidFill>
            <a:srgbClr val="006837"/>
          </a:solidFill>
          <a:ln/>
        </p:spPr>
      </p:sp>
      <p:sp>
        <p:nvSpPr>
          <p:cNvPr id="26" name="Text 19"/>
          <p:cNvSpPr/>
          <p:nvPr/>
        </p:nvSpPr>
        <p:spPr>
          <a:xfrm>
            <a:off x="9077325" y="933450"/>
            <a:ext cx="285909" cy="18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10918349" y="933450"/>
            <a:ext cx="425926" cy="18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 ▾</a:t>
            </a:r>
            <a:endParaRPr lang="en-US" sz="825" dirty="0"/>
          </a:p>
        </p:txBody>
      </p:sp>
      <p:sp>
        <p:nvSpPr>
          <p:cNvPr id="28" name="Text 21"/>
          <p:cNvSpPr/>
          <p:nvPr/>
        </p:nvSpPr>
        <p:spPr>
          <a:xfrm>
            <a:off x="9096375" y="1291431"/>
            <a:ext cx="2228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Revision · Maths</a:t>
            </a:r>
            <a:endParaRPr lang="en-US" sz="975" dirty="0"/>
          </a:p>
        </p:txBody>
      </p:sp>
      <p:sp>
        <p:nvSpPr>
          <p:cNvPr id="29" name="Shape 22"/>
          <p:cNvSpPr/>
          <p:nvPr/>
        </p:nvSpPr>
        <p:spPr>
          <a:xfrm>
            <a:off x="9077325" y="1600994"/>
            <a:ext cx="2190750" cy="4256881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152400" dir="5400000">
              <a:srgbClr val="000000">
                <a:alpha val="5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267825" y="1829594"/>
            <a:ext cx="1316514" cy="226219"/>
          </a:xfrm>
          <a:prstGeom prst="roundRect">
            <a:avLst>
              <a:gd name="adj" fmla="val 50000"/>
            </a:avLst>
          </a:prstGeom>
          <a:solidFill>
            <a:srgbClr val="006837">
              <a:alpha val="1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9372600" y="1877219"/>
            <a:ext cx="118316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First-degree equations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9267825" y="2303462"/>
            <a:ext cx="188595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for x :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9267825" y="2582069"/>
            <a:ext cx="1885950" cy="448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+ 7 = 22</a:t>
            </a:r>
            <a:endParaRPr lang="en-US" sz="2550" dirty="0"/>
          </a:p>
        </p:txBody>
      </p:sp>
      <p:sp>
        <p:nvSpPr>
          <p:cNvPr id="34" name="Text 27"/>
          <p:cNvSpPr/>
          <p:nvPr/>
        </p:nvSpPr>
        <p:spPr>
          <a:xfrm>
            <a:off x="9267825" y="3068638"/>
            <a:ext cx="18859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x = ?</a:t>
            </a:r>
            <a:endParaRPr lang="en-US" sz="1650" dirty="0"/>
          </a:p>
        </p:txBody>
      </p:sp>
      <p:sp>
        <p:nvSpPr>
          <p:cNvPr id="35" name="Shape 28"/>
          <p:cNvSpPr/>
          <p:nvPr/>
        </p:nvSpPr>
        <p:spPr>
          <a:xfrm>
            <a:off x="9267825" y="4300538"/>
            <a:ext cx="1809750" cy="385763"/>
          </a:xfrm>
          <a:prstGeom prst="roundRect">
            <a:avLst>
              <a:gd name="adj" fmla="val 29630"/>
            </a:avLst>
          </a:prstGeom>
          <a:solidFill>
            <a:srgbClr val="006837"/>
          </a:solidFill>
          <a:ln/>
        </p:spPr>
      </p:sp>
      <p:sp>
        <p:nvSpPr>
          <p:cNvPr id="36" name="Text 29"/>
          <p:cNvSpPr/>
          <p:nvPr/>
        </p:nvSpPr>
        <p:spPr>
          <a:xfrm>
            <a:off x="9344025" y="4414838"/>
            <a:ext cx="1657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975" dirty="0"/>
          </a:p>
        </p:txBody>
      </p:sp>
      <p:sp>
        <p:nvSpPr>
          <p:cNvPr id="37" name="Shape 30"/>
          <p:cNvSpPr/>
          <p:nvPr/>
        </p:nvSpPr>
        <p:spPr>
          <a:xfrm>
            <a:off x="9267825" y="4772025"/>
            <a:ext cx="1809750" cy="385763"/>
          </a:xfrm>
          <a:prstGeom prst="roundRect">
            <a:avLst>
              <a:gd name="adj" fmla="val 29630"/>
            </a:avLst>
          </a:prstGeom>
          <a:solidFill>
            <a:srgbClr val="FFF8F0"/>
          </a:solidFill>
          <a:ln/>
        </p:spPr>
      </p:sp>
      <p:sp>
        <p:nvSpPr>
          <p:cNvPr id="38" name="Text 31"/>
          <p:cNvSpPr/>
          <p:nvPr/>
        </p:nvSpPr>
        <p:spPr>
          <a:xfrm>
            <a:off x="9344025" y="4886325"/>
            <a:ext cx="1657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8A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it</a:t>
            </a:r>
            <a:endParaRPr lang="en-US" sz="975" dirty="0"/>
          </a:p>
        </p:txBody>
      </p:sp>
      <p:sp>
        <p:nvSpPr>
          <p:cNvPr id="39" name="Shape 32"/>
          <p:cNvSpPr/>
          <p:nvPr/>
        </p:nvSpPr>
        <p:spPr>
          <a:xfrm>
            <a:off x="9267825" y="5243513"/>
            <a:ext cx="1809750" cy="385763"/>
          </a:xfrm>
          <a:prstGeom prst="roundRect">
            <a:avLst>
              <a:gd name="adj" fmla="val 29630"/>
            </a:avLst>
          </a:prstGeom>
          <a:solidFill>
            <a:srgbClr val="FFF5F5"/>
          </a:solidFill>
          <a:ln/>
        </p:spPr>
      </p:sp>
      <p:sp>
        <p:nvSpPr>
          <p:cNvPr id="40" name="Text 33"/>
          <p:cNvSpPr/>
          <p:nvPr/>
        </p:nvSpPr>
        <p:spPr>
          <a:xfrm>
            <a:off x="9344025" y="5357813"/>
            <a:ext cx="1657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975" dirty="0"/>
          </a:p>
        </p:txBody>
      </p:sp>
      <p:sp>
        <p:nvSpPr>
          <p:cNvPr id="41" name="Text 34"/>
          <p:cNvSpPr/>
          <p:nvPr/>
        </p:nvSpPr>
        <p:spPr>
          <a:xfrm>
            <a:off x="11559382" y="6508750"/>
            <a:ext cx="46116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71612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391627" y="609600"/>
            <a:ext cx="7408588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ExamBoost experience in 5 screens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1899444" y="2223611"/>
            <a:ext cx="1672431" cy="3312795"/>
          </a:xfrm>
          <a:prstGeom prst="roundRect">
            <a:avLst>
              <a:gd name="adj" fmla="val 19364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89455" y="2313781"/>
            <a:ext cx="1492250" cy="3132614"/>
          </a:xfrm>
          <a:prstGeom prst="roundRect">
            <a:avLst>
              <a:gd name="adj" fmla="val 1659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989455" y="2313781"/>
            <a:ext cx="1492250" cy="313261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0" name="Text 7"/>
          <p:cNvSpPr/>
          <p:nvPr/>
        </p:nvSpPr>
        <p:spPr>
          <a:xfrm>
            <a:off x="2107565" y="2444591"/>
            <a:ext cx="25431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069749" y="2395855"/>
            <a:ext cx="22431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75" dirty="0"/>
          </a:p>
        </p:txBody>
      </p:sp>
      <p:sp>
        <p:nvSpPr>
          <p:cNvPr id="12" name="Shape 9"/>
          <p:cNvSpPr/>
          <p:nvPr/>
        </p:nvSpPr>
        <p:spPr>
          <a:xfrm>
            <a:off x="2122805" y="2730659"/>
            <a:ext cx="254317" cy="260033"/>
          </a:xfrm>
          <a:prstGeom prst="roundRect">
            <a:avLst>
              <a:gd name="adj" fmla="val 29963"/>
            </a:avLst>
          </a:prstGeom>
          <a:solidFill>
            <a:srgbClr val="D97700"/>
          </a:solidFill>
          <a:ln/>
        </p:spPr>
      </p:sp>
      <p:sp>
        <p:nvSpPr>
          <p:cNvPr id="13" name="Text 10"/>
          <p:cNvSpPr/>
          <p:nvPr/>
        </p:nvSpPr>
        <p:spPr>
          <a:xfrm>
            <a:off x="2122805" y="2730659"/>
            <a:ext cx="330517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436812" y="2621756"/>
            <a:ext cx="875983" cy="340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ExamBoost Togo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2450624" y="2883218"/>
            <a:ext cx="868204" cy="192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Hi, Amina 👋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147094" y="3148806"/>
            <a:ext cx="1143635" cy="826770"/>
          </a:xfrm>
          <a:prstGeom prst="roundRect">
            <a:avLst>
              <a:gd name="adj" fmla="val 13825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267268" y="3268980"/>
            <a:ext cx="957739" cy="206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BEPC preparation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2273617" y="3391059"/>
            <a:ext cx="967740" cy="39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2292985" y="3762058"/>
            <a:ext cx="877570" cy="93345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2292985" y="3774916"/>
            <a:ext cx="632460" cy="80645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21" name="Shape 18"/>
          <p:cNvSpPr/>
          <p:nvPr/>
        </p:nvSpPr>
        <p:spPr>
          <a:xfrm>
            <a:off x="2077244" y="3987800"/>
            <a:ext cx="1408589" cy="1537018"/>
          </a:xfrm>
          <a:prstGeom prst="roundRect">
            <a:avLst>
              <a:gd name="adj" fmla="val 10819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2197417" y="4107974"/>
            <a:ext cx="1186497" cy="22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825" dirty="0"/>
          </a:p>
        </p:txBody>
      </p:sp>
      <p:sp>
        <p:nvSpPr>
          <p:cNvPr id="23" name="Shape 20"/>
          <p:cNvSpPr/>
          <p:nvPr/>
        </p:nvSpPr>
        <p:spPr>
          <a:xfrm>
            <a:off x="2208212" y="4314825"/>
            <a:ext cx="1118711" cy="351155"/>
          </a:xfrm>
          <a:prstGeom prst="roundRect">
            <a:avLst>
              <a:gd name="adj" fmla="val 27125"/>
            </a:avLst>
          </a:prstGeom>
          <a:solidFill>
            <a:srgbClr val="F4F5F6"/>
          </a:solidFill>
          <a:ln/>
        </p:spPr>
      </p:sp>
      <p:sp>
        <p:nvSpPr>
          <p:cNvPr id="24" name="Text 21"/>
          <p:cNvSpPr/>
          <p:nvPr/>
        </p:nvSpPr>
        <p:spPr>
          <a:xfrm>
            <a:off x="2303462" y="4400550"/>
            <a:ext cx="1004411" cy="217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Adaptive Revision</a:t>
            </a:r>
            <a:endParaRPr lang="en-US" sz="675" dirty="0"/>
          </a:p>
        </p:txBody>
      </p:sp>
      <p:sp>
        <p:nvSpPr>
          <p:cNvPr id="25" name="Shape 22"/>
          <p:cNvSpPr/>
          <p:nvPr/>
        </p:nvSpPr>
        <p:spPr>
          <a:xfrm>
            <a:off x="2227580" y="4684236"/>
            <a:ext cx="1118711" cy="351155"/>
          </a:xfrm>
          <a:prstGeom prst="roundRect">
            <a:avLst>
              <a:gd name="adj" fmla="val 27125"/>
            </a:avLst>
          </a:prstGeom>
          <a:solidFill>
            <a:srgbClr val="F4F5F6"/>
          </a:solidFill>
          <a:ln/>
        </p:spPr>
      </p:sp>
      <p:sp>
        <p:nvSpPr>
          <p:cNvPr id="26" name="Text 23"/>
          <p:cNvSpPr/>
          <p:nvPr/>
        </p:nvSpPr>
        <p:spPr>
          <a:xfrm>
            <a:off x="2322830" y="4769961"/>
            <a:ext cx="1004411" cy="217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Mock Exam</a:t>
            </a:r>
            <a:endParaRPr lang="en-US" sz="675" dirty="0"/>
          </a:p>
        </p:txBody>
      </p:sp>
      <p:sp>
        <p:nvSpPr>
          <p:cNvPr id="27" name="Shape 24"/>
          <p:cNvSpPr/>
          <p:nvPr/>
        </p:nvSpPr>
        <p:spPr>
          <a:xfrm>
            <a:off x="2246947" y="5053647"/>
            <a:ext cx="1118711" cy="351155"/>
          </a:xfrm>
          <a:prstGeom prst="roundRect">
            <a:avLst>
              <a:gd name="adj" fmla="val 27125"/>
            </a:avLst>
          </a:prstGeom>
          <a:solidFill>
            <a:srgbClr val="F4F5F6"/>
          </a:solidFill>
          <a:ln/>
        </p:spPr>
      </p:sp>
      <p:sp>
        <p:nvSpPr>
          <p:cNvPr id="28" name="Text 25"/>
          <p:cNvSpPr/>
          <p:nvPr/>
        </p:nvSpPr>
        <p:spPr>
          <a:xfrm>
            <a:off x="2342197" y="5139372"/>
            <a:ext cx="1004411" cy="217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My Progress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2658586" y="5621338"/>
            <a:ext cx="42179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3616166" y="2235359"/>
            <a:ext cx="1617028" cy="3288982"/>
          </a:xfrm>
          <a:prstGeom prst="roundRect">
            <a:avLst>
              <a:gd name="adj" fmla="val 20027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04749" y="2324100"/>
            <a:ext cx="1439704" cy="3111659"/>
          </a:xfrm>
          <a:prstGeom prst="roundRect">
            <a:avLst>
              <a:gd name="adj" fmla="val 17201"/>
            </a:avLst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3704749" y="2324100"/>
            <a:ext cx="1439704" cy="3111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3918903" y="2404269"/>
            <a:ext cx="252095" cy="1749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881721" y="2437924"/>
            <a:ext cx="222091" cy="173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907473" y="2626360"/>
            <a:ext cx="1191101" cy="241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subject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3896836" y="2863532"/>
            <a:ext cx="393541" cy="316389"/>
          </a:xfrm>
          <a:prstGeom prst="roundRect">
            <a:avLst>
              <a:gd name="adj" fmla="val 27095"/>
            </a:avLst>
          </a:prstGeom>
          <a:solidFill>
            <a:srgbClr val="006837"/>
          </a:solidFill>
          <a:ln/>
        </p:spPr>
      </p:sp>
      <p:sp>
        <p:nvSpPr>
          <p:cNvPr id="37" name="Text 34"/>
          <p:cNvSpPr/>
          <p:nvPr/>
        </p:nvSpPr>
        <p:spPr>
          <a:xfrm>
            <a:off x="3982561" y="2901632"/>
            <a:ext cx="298291" cy="278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BEPC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336891" y="2878931"/>
            <a:ext cx="347028" cy="314801"/>
          </a:xfrm>
          <a:prstGeom prst="roundRect">
            <a:avLst>
              <a:gd name="adj" fmla="val 27231"/>
            </a:avLst>
          </a:prstGeom>
          <a:solidFill>
            <a:srgbClr val="F4F5F6"/>
          </a:solidFill>
          <a:ln/>
        </p:spPr>
      </p:sp>
      <p:sp>
        <p:nvSpPr>
          <p:cNvPr id="39" name="Text 36"/>
          <p:cNvSpPr/>
          <p:nvPr/>
        </p:nvSpPr>
        <p:spPr>
          <a:xfrm>
            <a:off x="4422616" y="2917031"/>
            <a:ext cx="251778" cy="2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1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4730591" y="2892584"/>
            <a:ext cx="347028" cy="314801"/>
          </a:xfrm>
          <a:prstGeom prst="roundRect">
            <a:avLst>
              <a:gd name="adj" fmla="val 27231"/>
            </a:avLst>
          </a:prstGeom>
          <a:solidFill>
            <a:srgbClr val="F4F5F6"/>
          </a:solidFill>
          <a:ln/>
        </p:spPr>
      </p:sp>
      <p:sp>
        <p:nvSpPr>
          <p:cNvPr id="41" name="Text 38"/>
          <p:cNvSpPr/>
          <p:nvPr/>
        </p:nvSpPr>
        <p:spPr>
          <a:xfrm>
            <a:off x="4816316" y="2930684"/>
            <a:ext cx="251778" cy="2767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2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859213" y="3261678"/>
            <a:ext cx="561975" cy="998537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977957" y="3359468"/>
            <a:ext cx="197009" cy="197009"/>
          </a:xfrm>
          <a:prstGeom prst="roundRect">
            <a:avLst>
              <a:gd name="adj" fmla="val 29009"/>
            </a:avLst>
          </a:prstGeom>
          <a:solidFill>
            <a:srgbClr val="E6F1EA"/>
          </a:solidFill>
          <a:ln/>
        </p:spPr>
      </p:sp>
      <p:sp>
        <p:nvSpPr>
          <p:cNvPr id="44" name="Text 41"/>
          <p:cNvSpPr/>
          <p:nvPr/>
        </p:nvSpPr>
        <p:spPr>
          <a:xfrm>
            <a:off x="3971290" y="3616484"/>
            <a:ext cx="419417" cy="172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3967956" y="3805237"/>
            <a:ext cx="339884" cy="40323"/>
          </a:xfrm>
          <a:prstGeom prst="roundRect">
            <a:avLst>
              <a:gd name="adj" fmla="val 49999"/>
            </a:avLst>
          </a:prstGeom>
          <a:solidFill>
            <a:srgbClr val="EEEEEE"/>
          </a:solidFill>
          <a:ln/>
        </p:spPr>
      </p:sp>
      <p:sp>
        <p:nvSpPr>
          <p:cNvPr id="46" name="Shape 43"/>
          <p:cNvSpPr/>
          <p:nvPr/>
        </p:nvSpPr>
        <p:spPr>
          <a:xfrm>
            <a:off x="3967956" y="3805237"/>
            <a:ext cx="265271" cy="37782"/>
          </a:xfrm>
          <a:prstGeom prst="roundRect">
            <a:avLst>
              <a:gd name="adj" fmla="val 50001"/>
            </a:avLst>
          </a:prstGeom>
          <a:solidFill>
            <a:srgbClr val="006837"/>
          </a:solidFill>
          <a:ln/>
        </p:spPr>
      </p:sp>
      <p:sp>
        <p:nvSpPr>
          <p:cNvPr id="47" name="Text 44"/>
          <p:cNvSpPr/>
          <p:nvPr/>
        </p:nvSpPr>
        <p:spPr>
          <a:xfrm>
            <a:off x="3958749" y="3871913"/>
            <a:ext cx="423069" cy="27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mastered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4463097" y="3282791"/>
            <a:ext cx="561975" cy="998538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81684" y="3380581"/>
            <a:ext cx="197009" cy="197009"/>
          </a:xfrm>
          <a:prstGeom prst="roundRect">
            <a:avLst>
              <a:gd name="adj" fmla="val 29009"/>
            </a:avLst>
          </a:prstGeom>
          <a:solidFill>
            <a:srgbClr val="E6F1EA"/>
          </a:solidFill>
          <a:ln/>
        </p:spPr>
      </p:sp>
      <p:sp>
        <p:nvSpPr>
          <p:cNvPr id="50" name="Text 47"/>
          <p:cNvSpPr/>
          <p:nvPr/>
        </p:nvSpPr>
        <p:spPr>
          <a:xfrm>
            <a:off x="4575175" y="3637597"/>
            <a:ext cx="419418" cy="172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571841" y="3826351"/>
            <a:ext cx="339884" cy="40323"/>
          </a:xfrm>
          <a:prstGeom prst="roundRect">
            <a:avLst>
              <a:gd name="adj" fmla="val 49999"/>
            </a:avLst>
          </a:prstGeom>
          <a:solidFill>
            <a:srgbClr val="EEEEEE"/>
          </a:solidFill>
          <a:ln/>
        </p:spPr>
      </p:sp>
      <p:sp>
        <p:nvSpPr>
          <p:cNvPr id="52" name="Shape 49"/>
          <p:cNvSpPr/>
          <p:nvPr/>
        </p:nvSpPr>
        <p:spPr>
          <a:xfrm>
            <a:off x="4571841" y="3826351"/>
            <a:ext cx="217805" cy="36195"/>
          </a:xfrm>
          <a:prstGeom prst="roundRect">
            <a:avLst>
              <a:gd name="adj" fmla="val 50000"/>
            </a:avLst>
          </a:prstGeom>
          <a:solidFill>
            <a:srgbClr val="006837"/>
          </a:solidFill>
          <a:ln/>
        </p:spPr>
      </p:sp>
      <p:sp>
        <p:nvSpPr>
          <p:cNvPr id="53" name="Text 50"/>
          <p:cNvSpPr/>
          <p:nvPr/>
        </p:nvSpPr>
        <p:spPr>
          <a:xfrm>
            <a:off x="4562634" y="3893026"/>
            <a:ext cx="423069" cy="27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mastered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3822382" y="4318000"/>
            <a:ext cx="561975" cy="99837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940969" y="4415790"/>
            <a:ext cx="197009" cy="197009"/>
          </a:xfrm>
          <a:prstGeom prst="roundRect">
            <a:avLst>
              <a:gd name="adj" fmla="val 29009"/>
            </a:avLst>
          </a:prstGeom>
          <a:solidFill>
            <a:srgbClr val="E6F1EA"/>
          </a:solidFill>
          <a:ln/>
        </p:spPr>
      </p:sp>
      <p:sp>
        <p:nvSpPr>
          <p:cNvPr id="56" name="Text 53"/>
          <p:cNvSpPr/>
          <p:nvPr/>
        </p:nvSpPr>
        <p:spPr>
          <a:xfrm>
            <a:off x="3934460" y="4672806"/>
            <a:ext cx="419418" cy="172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3931126" y="4861560"/>
            <a:ext cx="339884" cy="40323"/>
          </a:xfrm>
          <a:prstGeom prst="roundRect">
            <a:avLst>
              <a:gd name="adj" fmla="val 49999"/>
            </a:avLst>
          </a:prstGeom>
          <a:solidFill>
            <a:srgbClr val="EEEEEE"/>
          </a:solidFill>
          <a:ln/>
        </p:spPr>
      </p:sp>
      <p:sp>
        <p:nvSpPr>
          <p:cNvPr id="58" name="Shape 55"/>
          <p:cNvSpPr/>
          <p:nvPr/>
        </p:nvSpPr>
        <p:spPr>
          <a:xfrm>
            <a:off x="3931126" y="4861560"/>
            <a:ext cx="177165" cy="34766"/>
          </a:xfrm>
          <a:prstGeom prst="roundRect">
            <a:avLst>
              <a:gd name="adj" fmla="val 50000"/>
            </a:avLst>
          </a:prstGeom>
          <a:solidFill>
            <a:srgbClr val="006837"/>
          </a:solidFill>
          <a:ln/>
        </p:spPr>
      </p:sp>
      <p:sp>
        <p:nvSpPr>
          <p:cNvPr id="59" name="Text 56"/>
          <p:cNvSpPr/>
          <p:nvPr/>
        </p:nvSpPr>
        <p:spPr>
          <a:xfrm>
            <a:off x="3921919" y="4928235"/>
            <a:ext cx="423069" cy="27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 mastered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4426268" y="4339114"/>
            <a:ext cx="561975" cy="998379"/>
          </a:xfrm>
          <a:prstGeom prst="roundRect">
            <a:avLst>
              <a:gd name="adj" fmla="val 1694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544854" y="4436904"/>
            <a:ext cx="197009" cy="197009"/>
          </a:xfrm>
          <a:prstGeom prst="roundRect">
            <a:avLst>
              <a:gd name="adj" fmla="val 29009"/>
            </a:avLst>
          </a:prstGeom>
          <a:solidFill>
            <a:srgbClr val="E6F1EA"/>
          </a:solidFill>
          <a:ln/>
        </p:spPr>
      </p:sp>
      <p:sp>
        <p:nvSpPr>
          <p:cNvPr id="62" name="Text 59"/>
          <p:cNvSpPr/>
          <p:nvPr/>
        </p:nvSpPr>
        <p:spPr>
          <a:xfrm>
            <a:off x="4538345" y="4693920"/>
            <a:ext cx="419418" cy="172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4535011" y="4882674"/>
            <a:ext cx="339884" cy="40323"/>
          </a:xfrm>
          <a:prstGeom prst="roundRect">
            <a:avLst>
              <a:gd name="adj" fmla="val 49999"/>
            </a:avLst>
          </a:prstGeom>
          <a:solidFill>
            <a:srgbClr val="EEEEEE"/>
          </a:solidFill>
          <a:ln/>
        </p:spPr>
      </p:sp>
      <p:sp>
        <p:nvSpPr>
          <p:cNvPr id="64" name="Shape 61"/>
          <p:cNvSpPr/>
          <p:nvPr/>
        </p:nvSpPr>
        <p:spPr>
          <a:xfrm>
            <a:off x="4535011" y="4882674"/>
            <a:ext cx="139859" cy="33338"/>
          </a:xfrm>
          <a:prstGeom prst="roundRect">
            <a:avLst>
              <a:gd name="adj" fmla="val 49999"/>
            </a:avLst>
          </a:prstGeom>
          <a:solidFill>
            <a:srgbClr val="006837"/>
          </a:solidFill>
          <a:ln/>
        </p:spPr>
      </p:sp>
      <p:sp>
        <p:nvSpPr>
          <p:cNvPr id="65" name="Text 62"/>
          <p:cNvSpPr/>
          <p:nvPr/>
        </p:nvSpPr>
        <p:spPr>
          <a:xfrm>
            <a:off x="4525645" y="4949349"/>
            <a:ext cx="423069" cy="27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mastered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4118134" y="5623084"/>
            <a:ext cx="561340" cy="211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endParaRPr lang="en-US" sz="975" dirty="0"/>
          </a:p>
        </p:txBody>
      </p:sp>
      <p:sp>
        <p:nvSpPr>
          <p:cNvPr id="67" name="Shape 64"/>
          <p:cNvSpPr/>
          <p:nvPr/>
        </p:nvSpPr>
        <p:spPr>
          <a:xfrm>
            <a:off x="5282406" y="2235359"/>
            <a:ext cx="1617028" cy="3288982"/>
          </a:xfrm>
          <a:prstGeom prst="roundRect">
            <a:avLst>
              <a:gd name="adj" fmla="val 20027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5370988" y="2324100"/>
            <a:ext cx="1439704" cy="3111659"/>
          </a:xfrm>
          <a:prstGeom prst="roundRect">
            <a:avLst>
              <a:gd name="adj" fmla="val 17201"/>
            </a:avLst>
          </a:prstGeom>
          <a:solidFill>
            <a:srgbClr val="FFFFFF"/>
          </a:solidFill>
          <a:ln/>
        </p:spPr>
      </p:sp>
      <p:sp>
        <p:nvSpPr>
          <p:cNvPr id="69" name="Shape 66"/>
          <p:cNvSpPr/>
          <p:nvPr/>
        </p:nvSpPr>
        <p:spPr>
          <a:xfrm>
            <a:off x="5370988" y="2324100"/>
            <a:ext cx="1439704" cy="3111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67"/>
          <p:cNvSpPr/>
          <p:nvPr/>
        </p:nvSpPr>
        <p:spPr>
          <a:xfrm>
            <a:off x="5370988" y="2709386"/>
            <a:ext cx="1344771" cy="9525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1" name="Text 68"/>
          <p:cNvSpPr/>
          <p:nvPr/>
        </p:nvSpPr>
        <p:spPr>
          <a:xfrm>
            <a:off x="5488623" y="2459038"/>
            <a:ext cx="161131" cy="189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825" dirty="0"/>
          </a:p>
        </p:txBody>
      </p:sp>
      <p:sp>
        <p:nvSpPr>
          <p:cNvPr id="72" name="Text 69"/>
          <p:cNvSpPr/>
          <p:nvPr/>
        </p:nvSpPr>
        <p:spPr>
          <a:xfrm>
            <a:off x="5822950" y="2448401"/>
            <a:ext cx="382588" cy="179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</a:t>
            </a:r>
            <a:endParaRPr lang="en-US" sz="825" dirty="0"/>
          </a:p>
        </p:txBody>
      </p:sp>
      <p:sp>
        <p:nvSpPr>
          <p:cNvPr id="73" name="Text 70"/>
          <p:cNvSpPr/>
          <p:nvPr/>
        </p:nvSpPr>
        <p:spPr>
          <a:xfrm>
            <a:off x="6379051" y="2436336"/>
            <a:ext cx="294640" cy="167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675" dirty="0"/>
          </a:p>
        </p:txBody>
      </p:sp>
      <p:sp>
        <p:nvSpPr>
          <p:cNvPr id="74" name="Shape 71"/>
          <p:cNvSpPr/>
          <p:nvPr/>
        </p:nvSpPr>
        <p:spPr>
          <a:xfrm>
            <a:off x="5383213" y="2671604"/>
            <a:ext cx="1333659" cy="75089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5" name="Shape 72"/>
          <p:cNvSpPr/>
          <p:nvPr/>
        </p:nvSpPr>
        <p:spPr>
          <a:xfrm>
            <a:off x="5383213" y="2699385"/>
            <a:ext cx="534035" cy="47149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76" name="Shape 73"/>
          <p:cNvSpPr/>
          <p:nvPr/>
        </p:nvSpPr>
        <p:spPr>
          <a:xfrm>
            <a:off x="5502434" y="2818289"/>
            <a:ext cx="1174274" cy="2044700"/>
          </a:xfrm>
          <a:prstGeom prst="roundRect">
            <a:avLst>
              <a:gd name="adj" fmla="val 11356"/>
            </a:avLst>
          </a:prstGeom>
          <a:ln w="8731">
            <a:solidFill>
              <a:srgbClr val="E8EAED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650071" y="2984341"/>
            <a:ext cx="830898" cy="331629"/>
          </a:xfrm>
          <a:prstGeom prst="roundRect">
            <a:avLst>
              <a:gd name="adj" fmla="val 25850"/>
            </a:avLst>
          </a:prstGeom>
          <a:solidFill>
            <a:srgbClr val="E6F1EA"/>
          </a:solidFill>
          <a:ln/>
        </p:spPr>
      </p:sp>
      <p:sp>
        <p:nvSpPr>
          <p:cNvPr id="78" name="Text 75"/>
          <p:cNvSpPr/>
          <p:nvPr/>
        </p:nvSpPr>
        <p:spPr>
          <a:xfrm>
            <a:off x="5726271" y="3022441"/>
            <a:ext cx="754698" cy="29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First-degree equations</a:t>
            </a:r>
            <a:endParaRPr lang="en-US" sz="600" dirty="0"/>
          </a:p>
        </p:txBody>
      </p:sp>
      <p:sp>
        <p:nvSpPr>
          <p:cNvPr id="79" name="Text 76"/>
          <p:cNvSpPr/>
          <p:nvPr/>
        </p:nvSpPr>
        <p:spPr>
          <a:xfrm>
            <a:off x="5666581" y="3458686"/>
            <a:ext cx="901382" cy="20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for x :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5674201" y="3674427"/>
            <a:ext cx="914718" cy="590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+ 7 = 22</a:t>
            </a:r>
            <a:endParaRPr lang="en-US" sz="1650" dirty="0"/>
          </a:p>
        </p:txBody>
      </p:sp>
      <p:sp>
        <p:nvSpPr>
          <p:cNvPr id="81" name="Text 78"/>
          <p:cNvSpPr/>
          <p:nvPr/>
        </p:nvSpPr>
        <p:spPr>
          <a:xfrm>
            <a:off x="5700871" y="4441507"/>
            <a:ext cx="904399" cy="293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“Show answer” when ready</a:t>
            </a:r>
            <a:endParaRPr lang="en-US" sz="600" dirty="0"/>
          </a:p>
        </p:txBody>
      </p:sp>
      <p:sp>
        <p:nvSpPr>
          <p:cNvPr id="82" name="Shape 79"/>
          <p:cNvSpPr/>
          <p:nvPr/>
        </p:nvSpPr>
        <p:spPr>
          <a:xfrm>
            <a:off x="5576411" y="4938713"/>
            <a:ext cx="1116171" cy="378936"/>
          </a:xfrm>
          <a:prstGeom prst="roundRect">
            <a:avLst>
              <a:gd name="adj" fmla="val 27650"/>
            </a:avLst>
          </a:prstGeom>
          <a:solidFill>
            <a:srgbClr val="006837"/>
          </a:solidFill>
          <a:ln/>
        </p:spPr>
      </p:sp>
      <p:sp>
        <p:nvSpPr>
          <p:cNvPr id="83" name="Text 80"/>
          <p:cNvSpPr/>
          <p:nvPr/>
        </p:nvSpPr>
        <p:spPr>
          <a:xfrm>
            <a:off x="5643086" y="5043488"/>
            <a:ext cx="982821" cy="20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answer</a:t>
            </a:r>
            <a:endParaRPr lang="en-US" sz="825" dirty="0"/>
          </a:p>
        </p:txBody>
      </p:sp>
      <p:sp>
        <p:nvSpPr>
          <p:cNvPr id="84" name="Text 81"/>
          <p:cNvSpPr/>
          <p:nvPr/>
        </p:nvSpPr>
        <p:spPr>
          <a:xfrm>
            <a:off x="5792629" y="5618956"/>
            <a:ext cx="800576" cy="2203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SRS Revision</a:t>
            </a:r>
            <a:endParaRPr lang="en-US" sz="975" dirty="0"/>
          </a:p>
        </p:txBody>
      </p:sp>
      <p:sp>
        <p:nvSpPr>
          <p:cNvPr id="85" name="Shape 82"/>
          <p:cNvSpPr/>
          <p:nvPr/>
        </p:nvSpPr>
        <p:spPr>
          <a:xfrm>
            <a:off x="6968966" y="2235359"/>
            <a:ext cx="1617028" cy="3288982"/>
          </a:xfrm>
          <a:prstGeom prst="roundRect">
            <a:avLst>
              <a:gd name="adj" fmla="val 20027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7057549" y="2324100"/>
            <a:ext cx="1439704" cy="3111659"/>
          </a:xfrm>
          <a:prstGeom prst="roundRect">
            <a:avLst>
              <a:gd name="adj" fmla="val 17201"/>
            </a:avLst>
          </a:prstGeom>
          <a:solidFill>
            <a:srgbClr val="FFFFFF"/>
          </a:solidFill>
          <a:ln/>
        </p:spPr>
      </p:sp>
      <p:sp>
        <p:nvSpPr>
          <p:cNvPr id="87" name="Shape 84"/>
          <p:cNvSpPr/>
          <p:nvPr/>
        </p:nvSpPr>
        <p:spPr>
          <a:xfrm>
            <a:off x="7057549" y="2324100"/>
            <a:ext cx="1439704" cy="31116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5"/>
          <p:cNvSpPr/>
          <p:nvPr/>
        </p:nvSpPr>
        <p:spPr>
          <a:xfrm>
            <a:off x="7125812" y="2324100"/>
            <a:ext cx="1371600" cy="1160304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89" name="Text 86"/>
          <p:cNvSpPr/>
          <p:nvPr/>
        </p:nvSpPr>
        <p:spPr>
          <a:xfrm>
            <a:off x="7289959" y="2443004"/>
            <a:ext cx="1146334" cy="188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EXAM · BEPC</a:t>
            </a:r>
            <a:endParaRPr lang="en-US" sz="600" dirty="0"/>
          </a:p>
        </p:txBody>
      </p:sp>
      <p:sp>
        <p:nvSpPr>
          <p:cNvPr id="90" name="Text 87"/>
          <p:cNvSpPr/>
          <p:nvPr/>
        </p:nvSpPr>
        <p:spPr>
          <a:xfrm>
            <a:off x="7283291" y="2556351"/>
            <a:ext cx="1149033" cy="26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7262971" y="2834005"/>
            <a:ext cx="1083469" cy="531495"/>
          </a:xfrm>
          <a:prstGeom prst="roundRect">
            <a:avLst>
              <a:gd name="adj" fmla="val 17921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2" name="Text 89"/>
          <p:cNvSpPr/>
          <p:nvPr/>
        </p:nvSpPr>
        <p:spPr>
          <a:xfrm>
            <a:off x="7374414" y="2923381"/>
            <a:ext cx="490061" cy="270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47:12</a:t>
            </a:r>
            <a:endParaRPr lang="en-US" sz="1350" dirty="0"/>
          </a:p>
        </p:txBody>
      </p:sp>
      <p:sp>
        <p:nvSpPr>
          <p:cNvPr id="93" name="Text 90"/>
          <p:cNvSpPr/>
          <p:nvPr/>
        </p:nvSpPr>
        <p:spPr>
          <a:xfrm>
            <a:off x="7370762" y="3141504"/>
            <a:ext cx="486093" cy="157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left</a:t>
            </a:r>
            <a:endParaRPr lang="en-US" sz="525" dirty="0"/>
          </a:p>
        </p:txBody>
      </p:sp>
      <p:sp>
        <p:nvSpPr>
          <p:cNvPr id="94" name="Text 91"/>
          <p:cNvSpPr/>
          <p:nvPr/>
        </p:nvSpPr>
        <p:spPr>
          <a:xfrm>
            <a:off x="7779385" y="2940209"/>
            <a:ext cx="459422" cy="269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350" dirty="0"/>
          </a:p>
        </p:txBody>
      </p:sp>
      <p:sp>
        <p:nvSpPr>
          <p:cNvPr id="95" name="Text 92"/>
          <p:cNvSpPr/>
          <p:nvPr/>
        </p:nvSpPr>
        <p:spPr>
          <a:xfrm>
            <a:off x="7775734" y="3158331"/>
            <a:ext cx="455454" cy="155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5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525" dirty="0"/>
          </a:p>
        </p:txBody>
      </p:sp>
      <p:sp>
        <p:nvSpPr>
          <p:cNvPr id="96" name="Text 93"/>
          <p:cNvSpPr/>
          <p:nvPr/>
        </p:nvSpPr>
        <p:spPr>
          <a:xfrm>
            <a:off x="7232015" y="3556000"/>
            <a:ext cx="1184434" cy="190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· 4 POINTS</a:t>
            </a:r>
            <a:endParaRPr lang="en-US" sz="600" dirty="0"/>
          </a:p>
        </p:txBody>
      </p:sp>
      <p:sp>
        <p:nvSpPr>
          <p:cNvPr id="97" name="Text 94"/>
          <p:cNvSpPr/>
          <p:nvPr/>
        </p:nvSpPr>
        <p:spPr>
          <a:xfrm>
            <a:off x="7220902" y="3736181"/>
            <a:ext cx="1189196" cy="329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of a triangle with base 8 cm and height 5 cm?</a:t>
            </a:r>
            <a:endParaRPr lang="en-US" sz="713" dirty="0"/>
          </a:p>
        </p:txBody>
      </p:sp>
      <p:sp>
        <p:nvSpPr>
          <p:cNvPr id="98" name="Shape 95"/>
          <p:cNvSpPr/>
          <p:nvPr/>
        </p:nvSpPr>
        <p:spPr>
          <a:xfrm>
            <a:off x="7208361" y="4055904"/>
            <a:ext cx="1114425" cy="332105"/>
          </a:xfrm>
          <a:prstGeom prst="roundRect">
            <a:avLst>
              <a:gd name="adj" fmla="val 25813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305358" y="4134644"/>
            <a:ext cx="147796" cy="147796"/>
          </a:xfrm>
          <a:prstGeom prst="ellipse">
            <a:avLst/>
          </a:prstGeom>
          <a:ln w="8731">
            <a:solidFill>
              <a:srgbClr val="CCCCCC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314089" y="4143375"/>
            <a:ext cx="206534" cy="168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25" dirty="0"/>
          </a:p>
        </p:txBody>
      </p:sp>
      <p:sp>
        <p:nvSpPr>
          <p:cNvPr id="101" name="Text 98"/>
          <p:cNvSpPr/>
          <p:nvPr/>
        </p:nvSpPr>
        <p:spPr>
          <a:xfrm>
            <a:off x="7524433" y="4148137"/>
            <a:ext cx="352108" cy="17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cm²</a:t>
            </a:r>
            <a:endParaRPr lang="en-US" sz="675" dirty="0"/>
          </a:p>
        </p:txBody>
      </p:sp>
      <p:sp>
        <p:nvSpPr>
          <p:cNvPr id="102" name="Shape 99"/>
          <p:cNvSpPr/>
          <p:nvPr/>
        </p:nvSpPr>
        <p:spPr>
          <a:xfrm>
            <a:off x="7195661" y="4416107"/>
            <a:ext cx="1114425" cy="332105"/>
          </a:xfrm>
          <a:prstGeom prst="roundRect">
            <a:avLst>
              <a:gd name="adj" fmla="val 25813"/>
            </a:avLst>
          </a:prstGeom>
          <a:solidFill>
            <a:srgbClr val="FFF8F0"/>
          </a:solidFill>
          <a:ln w="8731">
            <a:solidFill>
              <a:srgbClr val="D97700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292816" y="4494689"/>
            <a:ext cx="147796" cy="147796"/>
          </a:xfrm>
          <a:prstGeom prst="ellipse">
            <a:avLst/>
          </a:prstGeom>
          <a:ln w="8731">
            <a:solidFill>
              <a:srgbClr val="D97700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7301548" y="4503420"/>
            <a:ext cx="206534" cy="168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25" dirty="0"/>
          </a:p>
        </p:txBody>
      </p:sp>
      <p:sp>
        <p:nvSpPr>
          <p:cNvPr id="105" name="Text 102"/>
          <p:cNvSpPr/>
          <p:nvPr/>
        </p:nvSpPr>
        <p:spPr>
          <a:xfrm>
            <a:off x="7511891" y="4508341"/>
            <a:ext cx="352108" cy="17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cm²</a:t>
            </a:r>
            <a:endParaRPr lang="en-US" sz="675" dirty="0"/>
          </a:p>
        </p:txBody>
      </p:sp>
      <p:sp>
        <p:nvSpPr>
          <p:cNvPr id="106" name="Shape 103"/>
          <p:cNvSpPr/>
          <p:nvPr/>
        </p:nvSpPr>
        <p:spPr>
          <a:xfrm>
            <a:off x="7183120" y="4776311"/>
            <a:ext cx="1114425" cy="332105"/>
          </a:xfrm>
          <a:prstGeom prst="roundRect">
            <a:avLst>
              <a:gd name="adj" fmla="val 25813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280116" y="4854893"/>
            <a:ext cx="147796" cy="147796"/>
          </a:xfrm>
          <a:prstGeom prst="ellipse">
            <a:avLst/>
          </a:prstGeom>
          <a:ln w="8731">
            <a:solidFill>
              <a:srgbClr val="CCCCCC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7288847" y="4863624"/>
            <a:ext cx="206534" cy="168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525" dirty="0"/>
          </a:p>
        </p:txBody>
      </p:sp>
      <p:sp>
        <p:nvSpPr>
          <p:cNvPr id="109" name="Text 106"/>
          <p:cNvSpPr/>
          <p:nvPr/>
        </p:nvSpPr>
        <p:spPr>
          <a:xfrm>
            <a:off x="7499350" y="4868386"/>
            <a:ext cx="352108" cy="17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cm²</a:t>
            </a:r>
            <a:endParaRPr lang="en-US" sz="675" dirty="0"/>
          </a:p>
        </p:txBody>
      </p:sp>
      <p:sp>
        <p:nvSpPr>
          <p:cNvPr id="110" name="Shape 107"/>
          <p:cNvSpPr/>
          <p:nvPr/>
        </p:nvSpPr>
        <p:spPr>
          <a:xfrm>
            <a:off x="7170579" y="5136356"/>
            <a:ext cx="1114425" cy="332105"/>
          </a:xfrm>
          <a:prstGeom prst="roundRect">
            <a:avLst>
              <a:gd name="adj" fmla="val 25813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267575" y="5215096"/>
            <a:ext cx="147796" cy="147796"/>
          </a:xfrm>
          <a:prstGeom prst="ellipse">
            <a:avLst/>
          </a:prstGeom>
          <a:ln w="8731">
            <a:solidFill>
              <a:srgbClr val="CCCCCC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7276306" y="5223827"/>
            <a:ext cx="206534" cy="168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525" dirty="0"/>
          </a:p>
        </p:txBody>
      </p:sp>
      <p:sp>
        <p:nvSpPr>
          <p:cNvPr id="113" name="Text 110"/>
          <p:cNvSpPr/>
          <p:nvPr/>
        </p:nvSpPr>
        <p:spPr>
          <a:xfrm>
            <a:off x="7486809" y="5228590"/>
            <a:ext cx="352108" cy="178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cm²</a:t>
            </a:r>
            <a:endParaRPr lang="en-US" sz="675" dirty="0"/>
          </a:p>
        </p:txBody>
      </p:sp>
      <p:sp>
        <p:nvSpPr>
          <p:cNvPr id="114" name="Text 111"/>
          <p:cNvSpPr/>
          <p:nvPr/>
        </p:nvSpPr>
        <p:spPr>
          <a:xfrm>
            <a:off x="7384415" y="5620067"/>
            <a:ext cx="734219" cy="217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Exam</a:t>
            </a:r>
            <a:endParaRPr lang="en-US" sz="975" dirty="0"/>
          </a:p>
        </p:txBody>
      </p:sp>
      <p:sp>
        <p:nvSpPr>
          <p:cNvPr id="115" name="Shape 112"/>
          <p:cNvSpPr/>
          <p:nvPr/>
        </p:nvSpPr>
        <p:spPr>
          <a:xfrm>
            <a:off x="8605044" y="2223611"/>
            <a:ext cx="1672431" cy="3312795"/>
          </a:xfrm>
          <a:prstGeom prst="roundRect">
            <a:avLst>
              <a:gd name="adj" fmla="val 19364"/>
            </a:avLst>
          </a:prstGeom>
          <a:solidFill>
            <a:srgbClr val="111111"/>
          </a:solidFill>
          <a:ln/>
          <a:effectLst>
            <a:outerShdw sx="100000" sy="100000" kx="0" ky="0" algn="bl" rotWithShape="0" blurRad="476250" dist="247650" dir="5400000">
              <a:srgbClr val="000000">
                <a:alpha val="50000"/>
              </a:srgbClr>
            </a:outerShdw>
          </a:effectLst>
        </p:spPr>
      </p:sp>
      <p:sp>
        <p:nvSpPr>
          <p:cNvPr id="116" name="Shape 113"/>
          <p:cNvSpPr/>
          <p:nvPr/>
        </p:nvSpPr>
        <p:spPr>
          <a:xfrm>
            <a:off x="8695055" y="2313781"/>
            <a:ext cx="1492250" cy="3132614"/>
          </a:xfrm>
          <a:prstGeom prst="roundRect">
            <a:avLst>
              <a:gd name="adj" fmla="val 16596"/>
            </a:avLst>
          </a:prstGeom>
          <a:solidFill>
            <a:srgbClr val="FFFFFF"/>
          </a:solidFill>
          <a:ln/>
        </p:spPr>
      </p:sp>
      <p:sp>
        <p:nvSpPr>
          <p:cNvPr id="117" name="Shape 114"/>
          <p:cNvSpPr/>
          <p:nvPr/>
        </p:nvSpPr>
        <p:spPr>
          <a:xfrm>
            <a:off x="8695055" y="2313781"/>
            <a:ext cx="1492250" cy="31326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5"/>
          <p:cNvSpPr/>
          <p:nvPr/>
        </p:nvSpPr>
        <p:spPr>
          <a:xfrm>
            <a:off x="8813165" y="2444591"/>
            <a:ext cx="25431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675" dirty="0"/>
          </a:p>
        </p:txBody>
      </p:sp>
      <p:sp>
        <p:nvSpPr>
          <p:cNvPr id="119" name="Text 116"/>
          <p:cNvSpPr/>
          <p:nvPr/>
        </p:nvSpPr>
        <p:spPr>
          <a:xfrm>
            <a:off x="9775349" y="2395855"/>
            <a:ext cx="224314" cy="176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75" dirty="0"/>
          </a:p>
        </p:txBody>
      </p:sp>
      <p:sp>
        <p:nvSpPr>
          <p:cNvPr id="120" name="Text 117"/>
          <p:cNvSpPr/>
          <p:nvPr/>
        </p:nvSpPr>
        <p:spPr>
          <a:xfrm>
            <a:off x="8821262" y="2596832"/>
            <a:ext cx="1193483" cy="264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Progress</a:t>
            </a:r>
            <a:endParaRPr lang="en-US" sz="975" dirty="0"/>
          </a:p>
        </p:txBody>
      </p:sp>
      <p:sp>
        <p:nvSpPr>
          <p:cNvPr id="121" name="Shape 118"/>
          <p:cNvSpPr/>
          <p:nvPr/>
        </p:nvSpPr>
        <p:spPr>
          <a:xfrm>
            <a:off x="8933338" y="2878773"/>
            <a:ext cx="961073" cy="961072"/>
          </a:xfrm>
          <a:prstGeom prst="ellipse">
            <a:avLst/>
          </a:prstGeom>
          <a:solidFill>
            <a:srgbClr val="006837"/>
          </a:solidFill>
          <a:ln/>
        </p:spPr>
      </p:sp>
      <p:sp>
        <p:nvSpPr>
          <p:cNvPr id="122" name="Shape 119"/>
          <p:cNvSpPr/>
          <p:nvPr/>
        </p:nvSpPr>
        <p:spPr>
          <a:xfrm>
            <a:off x="9053513" y="2998946"/>
            <a:ext cx="720725" cy="720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/>
          <p:nvPr/>
        </p:nvSpPr>
        <p:spPr>
          <a:xfrm>
            <a:off x="9213056" y="3189764"/>
            <a:ext cx="396081" cy="272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350" dirty="0"/>
          </a:p>
        </p:txBody>
      </p:sp>
      <p:sp>
        <p:nvSpPr>
          <p:cNvPr id="124" name="Text 121"/>
          <p:cNvSpPr/>
          <p:nvPr/>
        </p:nvSpPr>
        <p:spPr>
          <a:xfrm>
            <a:off x="9224486" y="3407727"/>
            <a:ext cx="390208" cy="1589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525" dirty="0"/>
          </a:p>
        </p:txBody>
      </p:sp>
      <p:sp>
        <p:nvSpPr>
          <p:cNvPr id="125" name="Shape 122"/>
          <p:cNvSpPr/>
          <p:nvPr/>
        </p:nvSpPr>
        <p:spPr>
          <a:xfrm>
            <a:off x="8889206" y="3882549"/>
            <a:ext cx="395764" cy="537686"/>
          </a:xfrm>
          <a:prstGeom prst="roundRect">
            <a:avLst>
              <a:gd name="adj" fmla="val 21661"/>
            </a:avLst>
          </a:prstGeom>
          <a:solidFill>
            <a:srgbClr val="F4F5F6"/>
          </a:solidFill>
          <a:ln/>
        </p:spPr>
      </p:sp>
      <p:sp>
        <p:nvSpPr>
          <p:cNvPr id="126" name="Text 123"/>
          <p:cNvSpPr/>
          <p:nvPr/>
        </p:nvSpPr>
        <p:spPr>
          <a:xfrm>
            <a:off x="8893016" y="3960654"/>
            <a:ext cx="376872" cy="210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</a:t>
            </a:r>
            <a:endParaRPr lang="en-US" sz="975" dirty="0"/>
          </a:p>
        </p:txBody>
      </p:sp>
      <p:sp>
        <p:nvSpPr>
          <p:cNvPr id="127" name="Text 124"/>
          <p:cNvSpPr/>
          <p:nvPr/>
        </p:nvSpPr>
        <p:spPr>
          <a:xfrm>
            <a:off x="8901271" y="4117499"/>
            <a:ext cx="374174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</a:t>
            </a:r>
            <a:endParaRPr lang="en-US" sz="525" dirty="0"/>
          </a:p>
        </p:txBody>
      </p:sp>
      <p:sp>
        <p:nvSpPr>
          <p:cNvPr id="128" name="Shape 125"/>
          <p:cNvSpPr/>
          <p:nvPr/>
        </p:nvSpPr>
        <p:spPr>
          <a:xfrm>
            <a:off x="9314815" y="3865562"/>
            <a:ext cx="293846" cy="532448"/>
          </a:xfrm>
          <a:prstGeom prst="roundRect">
            <a:avLst>
              <a:gd name="adj" fmla="val 29173"/>
            </a:avLst>
          </a:prstGeom>
          <a:solidFill>
            <a:srgbClr val="F4F5F6"/>
          </a:solidFill>
          <a:ln/>
        </p:spPr>
      </p:sp>
      <p:sp>
        <p:nvSpPr>
          <p:cNvPr id="129" name="Text 126"/>
          <p:cNvSpPr/>
          <p:nvPr/>
        </p:nvSpPr>
        <p:spPr>
          <a:xfrm>
            <a:off x="9318784" y="3943667"/>
            <a:ext cx="274955" cy="205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130" name="Text 127"/>
          <p:cNvSpPr/>
          <p:nvPr/>
        </p:nvSpPr>
        <p:spPr>
          <a:xfrm>
            <a:off x="9326880" y="4100513"/>
            <a:ext cx="277654" cy="257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streak</a:t>
            </a:r>
            <a:endParaRPr lang="en-US" sz="525" dirty="0"/>
          </a:p>
        </p:txBody>
      </p:sp>
      <p:sp>
        <p:nvSpPr>
          <p:cNvPr id="131" name="Shape 128"/>
          <p:cNvSpPr/>
          <p:nvPr/>
        </p:nvSpPr>
        <p:spPr>
          <a:xfrm>
            <a:off x="9638506" y="3843972"/>
            <a:ext cx="381159" cy="536893"/>
          </a:xfrm>
          <a:prstGeom prst="roundRect">
            <a:avLst>
              <a:gd name="adj" fmla="val 22491"/>
            </a:avLst>
          </a:prstGeom>
          <a:solidFill>
            <a:srgbClr val="F4F5F6"/>
          </a:solidFill>
          <a:ln/>
        </p:spPr>
      </p:sp>
      <p:sp>
        <p:nvSpPr>
          <p:cNvPr id="132" name="Text 129"/>
          <p:cNvSpPr/>
          <p:nvPr/>
        </p:nvSpPr>
        <p:spPr>
          <a:xfrm>
            <a:off x="9642475" y="3922077"/>
            <a:ext cx="3622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33" name="Text 130"/>
          <p:cNvSpPr/>
          <p:nvPr/>
        </p:nvSpPr>
        <p:spPr>
          <a:xfrm>
            <a:off x="9650730" y="4079081"/>
            <a:ext cx="359569" cy="157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Mastered</a:t>
            </a:r>
            <a:endParaRPr lang="en-US" sz="525" dirty="0"/>
          </a:p>
        </p:txBody>
      </p:sp>
      <p:sp>
        <p:nvSpPr>
          <p:cNvPr id="134" name="Text 131"/>
          <p:cNvSpPr/>
          <p:nvPr/>
        </p:nvSpPr>
        <p:spPr>
          <a:xfrm>
            <a:off x="8921274" y="4503896"/>
            <a:ext cx="302260" cy="163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Maths</a:t>
            </a:r>
            <a:endParaRPr lang="en-US" sz="600" dirty="0"/>
          </a:p>
        </p:txBody>
      </p:sp>
      <p:sp>
        <p:nvSpPr>
          <p:cNvPr id="135" name="Text 132"/>
          <p:cNvSpPr/>
          <p:nvPr/>
        </p:nvSpPr>
        <p:spPr>
          <a:xfrm>
            <a:off x="9872345" y="4457541"/>
            <a:ext cx="234474" cy="159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00" dirty="0"/>
          </a:p>
        </p:txBody>
      </p:sp>
      <p:sp>
        <p:nvSpPr>
          <p:cNvPr id="136" name="Shape 133"/>
          <p:cNvSpPr/>
          <p:nvPr/>
        </p:nvSpPr>
        <p:spPr>
          <a:xfrm>
            <a:off x="8929211" y="4608989"/>
            <a:ext cx="1105853" cy="10541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137" name="Shape 134"/>
          <p:cNvSpPr/>
          <p:nvPr/>
        </p:nvSpPr>
        <p:spPr>
          <a:xfrm>
            <a:off x="8929211" y="4621689"/>
            <a:ext cx="862965" cy="92710"/>
          </a:xfrm>
          <a:prstGeom prst="roundRect">
            <a:avLst>
              <a:gd name="adj" fmla="val 50000"/>
            </a:avLst>
          </a:prstGeom>
          <a:solidFill>
            <a:srgbClr val="006837"/>
          </a:solidFill>
          <a:ln/>
        </p:spPr>
      </p:sp>
      <p:sp>
        <p:nvSpPr>
          <p:cNvPr id="138" name="Text 135"/>
          <p:cNvSpPr/>
          <p:nvPr/>
        </p:nvSpPr>
        <p:spPr>
          <a:xfrm>
            <a:off x="8935720" y="4777105"/>
            <a:ext cx="336233" cy="164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600" dirty="0"/>
          </a:p>
        </p:txBody>
      </p:sp>
      <p:sp>
        <p:nvSpPr>
          <p:cNvPr id="139" name="Text 136"/>
          <p:cNvSpPr/>
          <p:nvPr/>
        </p:nvSpPr>
        <p:spPr>
          <a:xfrm>
            <a:off x="9886792" y="4732655"/>
            <a:ext cx="234474" cy="159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00" dirty="0"/>
          </a:p>
        </p:txBody>
      </p:sp>
      <p:sp>
        <p:nvSpPr>
          <p:cNvPr id="140" name="Shape 137"/>
          <p:cNvSpPr/>
          <p:nvPr/>
        </p:nvSpPr>
        <p:spPr>
          <a:xfrm>
            <a:off x="8943658" y="4883944"/>
            <a:ext cx="1105853" cy="10541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141" name="Shape 138"/>
          <p:cNvSpPr/>
          <p:nvPr/>
        </p:nvSpPr>
        <p:spPr>
          <a:xfrm>
            <a:off x="8943658" y="4904740"/>
            <a:ext cx="708660" cy="84614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142" name="Text 139"/>
          <p:cNvSpPr/>
          <p:nvPr/>
        </p:nvSpPr>
        <p:spPr>
          <a:xfrm>
            <a:off x="8950166" y="5050314"/>
            <a:ext cx="370046" cy="166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</a:t>
            </a:r>
            <a:endParaRPr lang="en-US" sz="600" dirty="0"/>
          </a:p>
        </p:txBody>
      </p:sp>
      <p:sp>
        <p:nvSpPr>
          <p:cNvPr id="143" name="Text 140"/>
          <p:cNvSpPr/>
          <p:nvPr/>
        </p:nvSpPr>
        <p:spPr>
          <a:xfrm>
            <a:off x="9901079" y="5007610"/>
            <a:ext cx="234474" cy="159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A6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00" dirty="0"/>
          </a:p>
        </p:txBody>
      </p:sp>
      <p:sp>
        <p:nvSpPr>
          <p:cNvPr id="144" name="Shape 141"/>
          <p:cNvSpPr/>
          <p:nvPr/>
        </p:nvSpPr>
        <p:spPr>
          <a:xfrm>
            <a:off x="8958104" y="5159057"/>
            <a:ext cx="1105852" cy="105410"/>
          </a:xfrm>
          <a:prstGeom prst="roundRect">
            <a:avLst>
              <a:gd name="adj" fmla="val 50000"/>
            </a:avLst>
          </a:prstGeom>
          <a:solidFill>
            <a:srgbClr val="EEEEEE"/>
          </a:solidFill>
          <a:ln/>
        </p:spPr>
      </p:sp>
      <p:sp>
        <p:nvSpPr>
          <p:cNvPr id="145" name="Shape 142"/>
          <p:cNvSpPr/>
          <p:nvPr/>
        </p:nvSpPr>
        <p:spPr>
          <a:xfrm>
            <a:off x="8958104" y="5186839"/>
            <a:ext cx="576263" cy="77629"/>
          </a:xfrm>
          <a:prstGeom prst="roundRect">
            <a:avLst>
              <a:gd name="adj" fmla="val 50000"/>
            </a:avLst>
          </a:prstGeom>
          <a:solidFill>
            <a:srgbClr val="2A6FDB"/>
          </a:solidFill>
          <a:ln/>
        </p:spPr>
      </p:sp>
      <p:sp>
        <p:nvSpPr>
          <p:cNvPr id="146" name="Text 143"/>
          <p:cNvSpPr/>
          <p:nvPr/>
        </p:nvSpPr>
        <p:spPr>
          <a:xfrm>
            <a:off x="9280684" y="5617051"/>
            <a:ext cx="58864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975" dirty="0"/>
          </a:p>
        </p:txBody>
      </p:sp>
      <p:sp>
        <p:nvSpPr>
          <p:cNvPr id="147" name="Text 144"/>
          <p:cNvSpPr/>
          <p:nvPr/>
        </p:nvSpPr>
        <p:spPr>
          <a:xfrm>
            <a:off x="4259593" y="6056312"/>
            <a:ext cx="3672654" cy="230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1" kern="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for Togo · Offline · Android 5+ · APK &lt; 25 MB</a:t>
            </a:r>
            <a:endParaRPr lang="en-US" sz="1050" dirty="0"/>
          </a:p>
        </p:txBody>
      </p:sp>
      <p:sp>
        <p:nvSpPr>
          <p:cNvPr id="148" name="Text 145"/>
          <p:cNvSpPr/>
          <p:nvPr/>
        </p:nvSpPr>
        <p:spPr>
          <a:xfrm>
            <a:off x="11553190" y="6508750"/>
            <a:ext cx="46736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95885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828675" y="1524000"/>
            <a:ext cx="3810000" cy="3810000"/>
          </a:xfrm>
          <a:prstGeom prst="ellipse">
            <a:avLst/>
          </a:prstGeom>
          <a:solidFill>
            <a:srgbClr val="E6F1EA"/>
          </a:solidFill>
          <a:ln/>
        </p:spPr>
      </p:sp>
      <p:sp>
        <p:nvSpPr>
          <p:cNvPr id="7" name="Text 4"/>
          <p:cNvSpPr/>
          <p:nvPr/>
        </p:nvSpPr>
        <p:spPr>
          <a:xfrm>
            <a:off x="771525" y="1771650"/>
            <a:ext cx="39243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5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· Francophone West Africa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1457325" y="2152650"/>
            <a:ext cx="2552700" cy="2552700"/>
          </a:xfrm>
          <a:prstGeom prst="ellipse">
            <a:avLst/>
          </a:prstGeom>
          <a:solidFill>
            <a:srgbClr val="9CC7AD"/>
          </a:solidFill>
          <a:ln/>
        </p:spPr>
      </p:sp>
      <p:sp>
        <p:nvSpPr>
          <p:cNvPr id="9" name="Text 6"/>
          <p:cNvSpPr/>
          <p:nvPr/>
        </p:nvSpPr>
        <p:spPr>
          <a:xfrm>
            <a:off x="1419035" y="2343150"/>
            <a:ext cx="26292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A44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800K · Togo secondary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2019300" y="2714625"/>
            <a:ext cx="1428750" cy="1428750"/>
          </a:xfrm>
          <a:prstGeom prst="ellipse">
            <a:avLst/>
          </a:prstGeom>
          <a:solidFill>
            <a:srgbClr val="006837"/>
          </a:solidFill>
          <a:ln/>
          <a:effectLst>
            <a:outerShdw sx="100000" sy="100000" kx="0" ky="0" algn="bl" rotWithShape="0" blurRad="285750" dist="133350" dir="5400000">
              <a:srgbClr val="00502B">
                <a:alpha val="6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15381" y="3136106"/>
            <a:ext cx="6364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415381" y="3459956"/>
            <a:ext cx="63642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 by Year 2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91150" y="1863566"/>
            <a:ext cx="6298502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 of 800,000 students</a:t>
            </a:r>
            <a:endParaRPr lang="en-US" sz="3300" dirty="0"/>
          </a:p>
        </p:txBody>
      </p:sp>
      <p:sp>
        <p:nvSpPr>
          <p:cNvPr id="14" name="Shape 11"/>
          <p:cNvSpPr/>
          <p:nvPr/>
        </p:nvSpPr>
        <p:spPr>
          <a:xfrm>
            <a:off x="5391150" y="3029426"/>
            <a:ext cx="34925" cy="503714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5" name="Text 12"/>
          <p:cNvSpPr/>
          <p:nvPr/>
        </p:nvSpPr>
        <p:spPr>
          <a:xfrm>
            <a:off x="5616575" y="3086576"/>
            <a:ext cx="2457450" cy="4152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b="1" spc="-99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800,000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8169275" y="3275171"/>
            <a:ext cx="1854200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students in Togo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5391150" y="3685540"/>
            <a:ext cx="34925" cy="503714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18" name="Text 15"/>
          <p:cNvSpPr/>
          <p:nvPr/>
        </p:nvSpPr>
        <p:spPr>
          <a:xfrm>
            <a:off x="5616575" y="3742690"/>
            <a:ext cx="2457450" cy="4152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00" b="1" spc="-99" kern="0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8169275" y="3931285"/>
            <a:ext cx="2358231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BEPC + BAC candidates every year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5391150" y="4341654"/>
            <a:ext cx="34925" cy="652621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21" name="Text 18"/>
          <p:cNvSpPr/>
          <p:nvPr/>
        </p:nvSpPr>
        <p:spPr>
          <a:xfrm>
            <a:off x="5616575" y="4398804"/>
            <a:ext cx="2457450" cy="3638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0" b="1" spc="-85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countries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8169275" y="4535488"/>
            <a:ext cx="2318068" cy="439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Benin · Côte d'Ivoire · Burkina Faso share the same curriculum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1559064" y="6508750"/>
            <a:ext cx="46148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12311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85800" y="609600"/>
            <a:ext cx="11145012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students. Profitable for us.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685800" y="1411605"/>
            <a:ext cx="3454400" cy="2096294"/>
          </a:xfrm>
          <a:prstGeom prst="roundRect">
            <a:avLst>
              <a:gd name="adj" fmla="val 7270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381000" dist="171450" dir="5400000">
              <a:srgbClr val="101828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531" y="1420336"/>
            <a:ext cx="3436937" cy="569912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9" name="Text 6"/>
          <p:cNvSpPr/>
          <p:nvPr/>
        </p:nvSpPr>
        <p:spPr>
          <a:xfrm>
            <a:off x="923131" y="1591786"/>
            <a:ext cx="3082845" cy="26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Licenses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923131" y="2237899"/>
            <a:ext cx="3069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FCFA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23131" y="2590324"/>
            <a:ext cx="3069129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 · per school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531" y="3030061"/>
            <a:ext cx="3436937" cy="46910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3" name="Text 10"/>
          <p:cNvSpPr/>
          <p:nvPr/>
        </p:nvSpPr>
        <p:spPr>
          <a:xfrm>
            <a:off x="923131" y="3172936"/>
            <a:ext cx="308284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schools → 15M FCFA / yr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4368800" y="1411605"/>
            <a:ext cx="3454400" cy="2096294"/>
          </a:xfrm>
          <a:prstGeom prst="roundRect">
            <a:avLst>
              <a:gd name="adj" fmla="val 7270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381000" dist="171450" dir="5400000">
              <a:srgbClr val="101828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77531" y="1420336"/>
            <a:ext cx="3436938" cy="569912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16" name="Text 13"/>
          <p:cNvSpPr/>
          <p:nvPr/>
        </p:nvSpPr>
        <p:spPr>
          <a:xfrm>
            <a:off x="4606131" y="1591786"/>
            <a:ext cx="3082846" cy="26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Subsidies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4606131" y="2237899"/>
            <a:ext cx="30691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GPE · UNICEF · AFD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4606131" y="2590324"/>
            <a:ext cx="3069130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education-impact funding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377531" y="3030061"/>
            <a:ext cx="3436938" cy="469106"/>
          </a:xfrm>
          <a:prstGeom prst="rect">
            <a:avLst/>
          </a:prstGeom>
          <a:solidFill>
            <a:srgbClr val="006837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606131" y="3172936"/>
            <a:ext cx="308284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30–50M FCFA available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8051800" y="1411605"/>
            <a:ext cx="3454400" cy="2096294"/>
          </a:xfrm>
          <a:prstGeom prst="roundRect">
            <a:avLst>
              <a:gd name="adj" fmla="val 7270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381000" dist="171450" dir="5400000">
              <a:srgbClr val="101828">
                <a:alpha val="4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60531" y="1420336"/>
            <a:ext cx="3436937" cy="569912"/>
          </a:xfrm>
          <a:prstGeom prst="rect">
            <a:avLst/>
          </a:prstGeom>
          <a:solidFill>
            <a:srgbClr val="3A3F45"/>
          </a:solidFill>
          <a:ln/>
        </p:spPr>
      </p:sp>
      <p:sp>
        <p:nvSpPr>
          <p:cNvPr id="23" name="Text 20"/>
          <p:cNvSpPr/>
          <p:nvPr/>
        </p:nvSpPr>
        <p:spPr>
          <a:xfrm>
            <a:off x="8289131" y="1591786"/>
            <a:ext cx="3082845" cy="26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Premium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8289131" y="2237899"/>
            <a:ext cx="306912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FCFA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8289131" y="2590324"/>
            <a:ext cx="3069129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· optional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60531" y="3030061"/>
            <a:ext cx="3436937" cy="469106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27" name="Text 24"/>
          <p:cNvSpPr/>
          <p:nvPr/>
        </p:nvSpPr>
        <p:spPr>
          <a:xfrm>
            <a:off x="8289131" y="3172936"/>
            <a:ext cx="308284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of active users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85800" y="5789612"/>
            <a:ext cx="1287780" cy="230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point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78365" y="5789612"/>
            <a:ext cx="1804035" cy="230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institutions → Year 2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5800" y="6115050"/>
            <a:ext cx="10820400" cy="133350"/>
          </a:xfrm>
          <a:prstGeom prst="roundRect">
            <a:avLst>
              <a:gd name="adj" fmla="val 50000"/>
            </a:avLst>
          </a:prstGeom>
          <a:solidFill>
            <a:srgbClr val="F4F5F6"/>
          </a:solidFill>
          <a:ln/>
        </p:spPr>
      </p:sp>
      <p:sp>
        <p:nvSpPr>
          <p:cNvPr id="31" name="Shape 28"/>
          <p:cNvSpPr/>
          <p:nvPr/>
        </p:nvSpPr>
        <p:spPr>
          <a:xfrm>
            <a:off x="685800" y="6115050"/>
            <a:ext cx="6708616" cy="133350"/>
          </a:xfrm>
          <a:prstGeom prst="roundRect">
            <a:avLst>
              <a:gd name="adj" fmla="val 50000"/>
            </a:avLst>
          </a:prstGeom>
          <a:solidFill>
            <a:srgbClr val="006837"/>
          </a:solidFill>
          <a:ln/>
        </p:spPr>
      </p:sp>
      <p:sp>
        <p:nvSpPr>
          <p:cNvPr id="32" name="Text 29"/>
          <p:cNvSpPr/>
          <p:nvPr/>
        </p:nvSpPr>
        <p:spPr>
          <a:xfrm>
            <a:off x="11557318" y="6508750"/>
            <a:ext cx="46323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101361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85800" y="609600"/>
            <a:ext cx="11145012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the only ones doing this in Togo.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685800" y="1373505"/>
            <a:ext cx="2985611" cy="469106"/>
          </a:xfrm>
          <a:prstGeom prst="roundRect">
            <a:avLst>
              <a:gd name="adj" fmla="val 24365"/>
            </a:avLst>
          </a:prstGeom>
          <a:solidFill>
            <a:srgbClr val="2A2E33"/>
          </a:solidFill>
          <a:ln/>
        </p:spPr>
      </p:sp>
      <p:sp>
        <p:nvSpPr>
          <p:cNvPr id="8" name="Text 5"/>
          <p:cNvSpPr/>
          <p:nvPr/>
        </p:nvSpPr>
        <p:spPr>
          <a:xfrm>
            <a:off x="857250" y="1516380"/>
            <a:ext cx="2732280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3671411" y="1373505"/>
            <a:ext cx="2002631" cy="469106"/>
          </a:xfrm>
          <a:prstGeom prst="rect">
            <a:avLst/>
          </a:prstGeom>
          <a:solidFill>
            <a:srgbClr val="2A2E33"/>
          </a:solidFill>
          <a:ln/>
        </p:spPr>
      </p:sp>
      <p:sp>
        <p:nvSpPr>
          <p:cNvPr id="10" name="Text 7"/>
          <p:cNvSpPr/>
          <p:nvPr/>
        </p:nvSpPr>
        <p:spPr>
          <a:xfrm>
            <a:off x="3728561" y="1516380"/>
            <a:ext cx="188833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Khan Academy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5674043" y="1373505"/>
            <a:ext cx="1324293" cy="469106"/>
          </a:xfrm>
          <a:prstGeom prst="rect">
            <a:avLst/>
          </a:prstGeom>
          <a:solidFill>
            <a:srgbClr val="2A2E33"/>
          </a:solidFill>
          <a:ln/>
        </p:spPr>
      </p:sp>
      <p:sp>
        <p:nvSpPr>
          <p:cNvPr id="12" name="Text 9"/>
          <p:cNvSpPr/>
          <p:nvPr/>
        </p:nvSpPr>
        <p:spPr>
          <a:xfrm>
            <a:off x="5731193" y="1516380"/>
            <a:ext cx="120999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Afrilearn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998335" y="1373505"/>
            <a:ext cx="2172811" cy="469106"/>
          </a:xfrm>
          <a:prstGeom prst="rect">
            <a:avLst/>
          </a:prstGeom>
          <a:solidFill>
            <a:srgbClr val="2A2E33"/>
          </a:solidFill>
          <a:ln/>
        </p:spPr>
      </p:sp>
      <p:sp>
        <p:nvSpPr>
          <p:cNvPr id="14" name="Text 11"/>
          <p:cNvSpPr/>
          <p:nvPr/>
        </p:nvSpPr>
        <p:spPr>
          <a:xfrm>
            <a:off x="7055485" y="1516380"/>
            <a:ext cx="205851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CF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WhatsApp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9171146" y="1373505"/>
            <a:ext cx="2335054" cy="469106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6" name="Text 13"/>
          <p:cNvSpPr/>
          <p:nvPr/>
        </p:nvSpPr>
        <p:spPr>
          <a:xfrm>
            <a:off x="9266396" y="1516380"/>
            <a:ext cx="2144554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ExamBoost Togo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685800" y="1842611"/>
            <a:ext cx="29856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57250" y="1975961"/>
            <a:ext cx="273228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Togolese curriculum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3671411" y="1842611"/>
            <a:ext cx="200263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728561" y="1975961"/>
            <a:ext cx="188833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674043" y="1842611"/>
            <a:ext cx="1324293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5731193" y="1975961"/>
            <a:ext cx="1209993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998335" y="1842611"/>
            <a:ext cx="21728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7055485" y="1975961"/>
            <a:ext cx="205851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71146" y="1842611"/>
            <a:ext cx="2335054" cy="519906"/>
          </a:xfrm>
          <a:prstGeom prst="rect">
            <a:avLst/>
          </a:prstGeom>
          <a:solidFill>
            <a:srgbClr val="EEF6F1"/>
          </a:solidFill>
          <a:ln/>
        </p:spPr>
      </p:sp>
      <p:sp>
        <p:nvSpPr>
          <p:cNvPr id="26" name="Text 23"/>
          <p:cNvSpPr/>
          <p:nvPr/>
        </p:nvSpPr>
        <p:spPr>
          <a:xfrm>
            <a:off x="9266396" y="1975961"/>
            <a:ext cx="2144554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85800" y="2362518"/>
            <a:ext cx="298561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5"/>
          <p:cNvSpPr/>
          <p:nvPr/>
        </p:nvSpPr>
        <p:spPr>
          <a:xfrm>
            <a:off x="857250" y="2495868"/>
            <a:ext cx="273228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3671411" y="2362518"/>
            <a:ext cx="200263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7"/>
          <p:cNvSpPr/>
          <p:nvPr/>
        </p:nvSpPr>
        <p:spPr>
          <a:xfrm>
            <a:off x="3728561" y="2495868"/>
            <a:ext cx="188833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5674043" y="2362518"/>
            <a:ext cx="1324293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29"/>
          <p:cNvSpPr/>
          <p:nvPr/>
        </p:nvSpPr>
        <p:spPr>
          <a:xfrm>
            <a:off x="5731193" y="2495868"/>
            <a:ext cx="1209993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6998335" y="2362518"/>
            <a:ext cx="217281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4" name="Text 31"/>
          <p:cNvSpPr/>
          <p:nvPr/>
        </p:nvSpPr>
        <p:spPr>
          <a:xfrm>
            <a:off x="7055485" y="2495868"/>
            <a:ext cx="205851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9171146" y="2362518"/>
            <a:ext cx="2335054" cy="519906"/>
          </a:xfrm>
          <a:prstGeom prst="rect">
            <a:avLst/>
          </a:prstGeom>
          <a:solidFill>
            <a:srgbClr val="EEF6F1"/>
          </a:solidFill>
          <a:ln/>
        </p:spPr>
      </p:sp>
      <p:sp>
        <p:nvSpPr>
          <p:cNvPr id="36" name="Text 33"/>
          <p:cNvSpPr/>
          <p:nvPr/>
        </p:nvSpPr>
        <p:spPr>
          <a:xfrm>
            <a:off x="9266396" y="2495868"/>
            <a:ext cx="2144554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85800" y="2882424"/>
            <a:ext cx="29856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857250" y="3015774"/>
            <a:ext cx="273228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Togolese French</a:t>
            </a:r>
            <a:endParaRPr lang="en-US" sz="1125" dirty="0"/>
          </a:p>
        </p:txBody>
      </p:sp>
      <p:sp>
        <p:nvSpPr>
          <p:cNvPr id="39" name="Shape 36"/>
          <p:cNvSpPr/>
          <p:nvPr/>
        </p:nvSpPr>
        <p:spPr>
          <a:xfrm>
            <a:off x="3671411" y="2882424"/>
            <a:ext cx="200263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7"/>
          <p:cNvSpPr/>
          <p:nvPr/>
        </p:nvSpPr>
        <p:spPr>
          <a:xfrm>
            <a:off x="3728561" y="3015774"/>
            <a:ext cx="188833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5674043" y="2882424"/>
            <a:ext cx="1324293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5731193" y="3015774"/>
            <a:ext cx="1209993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998335" y="2882424"/>
            <a:ext cx="21728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7055485" y="3015774"/>
            <a:ext cx="205851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9171146" y="2882424"/>
            <a:ext cx="2335054" cy="519906"/>
          </a:xfrm>
          <a:prstGeom prst="rect">
            <a:avLst/>
          </a:prstGeom>
          <a:solidFill>
            <a:srgbClr val="EEF6F1"/>
          </a:solidFill>
          <a:ln/>
        </p:spPr>
      </p:sp>
      <p:sp>
        <p:nvSpPr>
          <p:cNvPr id="46" name="Text 43"/>
          <p:cNvSpPr/>
          <p:nvPr/>
        </p:nvSpPr>
        <p:spPr>
          <a:xfrm>
            <a:off x="9266396" y="3015774"/>
            <a:ext cx="2144554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685800" y="3402330"/>
            <a:ext cx="298561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48" name="Text 45"/>
          <p:cNvSpPr/>
          <p:nvPr/>
        </p:nvSpPr>
        <p:spPr>
          <a:xfrm>
            <a:off x="857250" y="3535680"/>
            <a:ext cx="273228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AI</a:t>
            </a:r>
            <a:endParaRPr lang="en-US" sz="1125" dirty="0"/>
          </a:p>
        </p:txBody>
      </p:sp>
      <p:sp>
        <p:nvSpPr>
          <p:cNvPr id="49" name="Shape 46"/>
          <p:cNvSpPr/>
          <p:nvPr/>
        </p:nvSpPr>
        <p:spPr>
          <a:xfrm>
            <a:off x="3671411" y="3402330"/>
            <a:ext cx="200263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0" name="Text 47"/>
          <p:cNvSpPr/>
          <p:nvPr/>
        </p:nvSpPr>
        <p:spPr>
          <a:xfrm>
            <a:off x="3728561" y="3535680"/>
            <a:ext cx="188833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5674043" y="3402330"/>
            <a:ext cx="1324293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2" name="Text 49"/>
          <p:cNvSpPr/>
          <p:nvPr/>
        </p:nvSpPr>
        <p:spPr>
          <a:xfrm>
            <a:off x="5731193" y="3535680"/>
            <a:ext cx="1209993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6998335" y="3402330"/>
            <a:ext cx="2172811" cy="519906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4" name="Text 51"/>
          <p:cNvSpPr/>
          <p:nvPr/>
        </p:nvSpPr>
        <p:spPr>
          <a:xfrm>
            <a:off x="7055485" y="3535680"/>
            <a:ext cx="205851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9171146" y="3402330"/>
            <a:ext cx="2335054" cy="519906"/>
          </a:xfrm>
          <a:prstGeom prst="rect">
            <a:avLst/>
          </a:prstGeom>
          <a:solidFill>
            <a:srgbClr val="EEF6F1"/>
          </a:solidFill>
          <a:ln/>
        </p:spPr>
      </p:sp>
      <p:sp>
        <p:nvSpPr>
          <p:cNvPr id="56" name="Text 53"/>
          <p:cNvSpPr/>
          <p:nvPr/>
        </p:nvSpPr>
        <p:spPr>
          <a:xfrm>
            <a:off x="9266396" y="3535680"/>
            <a:ext cx="2144554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685800" y="3922236"/>
            <a:ext cx="29856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5"/>
          <p:cNvSpPr/>
          <p:nvPr/>
        </p:nvSpPr>
        <p:spPr>
          <a:xfrm>
            <a:off x="857250" y="4055586"/>
            <a:ext cx="2732280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students</a:t>
            </a:r>
            <a:endParaRPr lang="en-US" sz="1125" dirty="0"/>
          </a:p>
        </p:txBody>
      </p:sp>
      <p:sp>
        <p:nvSpPr>
          <p:cNvPr id="59" name="Shape 56"/>
          <p:cNvSpPr/>
          <p:nvPr/>
        </p:nvSpPr>
        <p:spPr>
          <a:xfrm>
            <a:off x="3671411" y="3922236"/>
            <a:ext cx="200263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/>
          <p:nvPr/>
        </p:nvSpPr>
        <p:spPr>
          <a:xfrm>
            <a:off x="3728561" y="4055586"/>
            <a:ext cx="188833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5674043" y="3922236"/>
            <a:ext cx="1324293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/>
          <p:nvPr/>
        </p:nvSpPr>
        <p:spPr>
          <a:xfrm>
            <a:off x="5731193" y="4055586"/>
            <a:ext cx="1209993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6998335" y="3922236"/>
            <a:ext cx="2172811" cy="5199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/>
          <p:nvPr/>
        </p:nvSpPr>
        <p:spPr>
          <a:xfrm>
            <a:off x="7055485" y="4055586"/>
            <a:ext cx="2058511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9171146" y="3922236"/>
            <a:ext cx="2335054" cy="519906"/>
          </a:xfrm>
          <a:prstGeom prst="rect">
            <a:avLst/>
          </a:prstGeom>
          <a:solidFill>
            <a:srgbClr val="EEF6F1"/>
          </a:solidFill>
          <a:ln/>
        </p:spPr>
      </p:sp>
      <p:sp>
        <p:nvSpPr>
          <p:cNvPr id="66" name="Text 63"/>
          <p:cNvSpPr/>
          <p:nvPr/>
        </p:nvSpPr>
        <p:spPr>
          <a:xfrm>
            <a:off x="9266396" y="4055586"/>
            <a:ext cx="2144554" cy="2913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523494" y="6038850"/>
            <a:ext cx="1114501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edge: deep localization that foreign players cannot replicate.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1565731" y="6508750"/>
            <a:ext cx="45481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76215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85800" y="1444307"/>
            <a:ext cx="6376988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Togolese students are waiting for us.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85800" y="2648267"/>
            <a:ext cx="637698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b="1" spc="-180" kern="0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85800" y="3372167"/>
            <a:ext cx="3728085" cy="47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surveyed students have no digital tool to prepare for exams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4094480"/>
            <a:ext cx="637698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b="1" spc="-18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685800" y="4818380"/>
            <a:ext cx="3728085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ready to use ExamBoost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5265261"/>
            <a:ext cx="6376988" cy="1865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survey · 30 students · Lomé · June 2026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7410450" y="1797844"/>
            <a:ext cx="4095750" cy="152638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01828">
                <a:alpha val="4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10450" y="1797844"/>
            <a:ext cx="34925" cy="1526381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14" name="Text 11"/>
          <p:cNvSpPr/>
          <p:nvPr/>
        </p:nvSpPr>
        <p:spPr>
          <a:xfrm>
            <a:off x="7712075" y="2045494"/>
            <a:ext cx="36332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712075" y="2274094"/>
            <a:ext cx="36332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revise with PDFs on WhatsApp, but it's completely disorganized.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7712075" y="2893219"/>
            <a:ext cx="363324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Student, Final year (Terminale C), Lomé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7410450" y="3533775"/>
            <a:ext cx="4095750" cy="152638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0" dist="171450" dir="5400000">
              <a:srgbClr val="101828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10450" y="3533775"/>
            <a:ext cx="34925" cy="1526381"/>
          </a:xfrm>
          <a:prstGeom prst="rect">
            <a:avLst/>
          </a:prstGeom>
          <a:solidFill>
            <a:srgbClr val="006837"/>
          </a:solidFill>
          <a:ln/>
        </p:spPr>
      </p:sp>
      <p:sp>
        <p:nvSpPr>
          <p:cNvPr id="19" name="Text 16"/>
          <p:cNvSpPr/>
          <p:nvPr/>
        </p:nvSpPr>
        <p:spPr>
          <a:xfrm>
            <a:off x="7712075" y="3781425"/>
            <a:ext cx="36332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712075" y="4010025"/>
            <a:ext cx="363324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love to know where I really stand in my revision.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7712075" y="4629150"/>
            <a:ext cx="363324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Student, Grade 9 (3ème), Atakpamé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1558746" y="6508750"/>
            <a:ext cx="46180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266700"/>
            <a:ext cx="26194" cy="104775"/>
          </a:xfrm>
          <a:prstGeom prst="rect">
            <a:avLst/>
          </a:prstGeom>
          <a:solidFill>
            <a:srgbClr val="D97700"/>
          </a:solidFill>
          <a:ln/>
        </p:spPr>
      </p:sp>
      <p:sp>
        <p:nvSpPr>
          <p:cNvPr id="3" name="Text 1"/>
          <p:cNvSpPr/>
          <p:nvPr/>
        </p:nvSpPr>
        <p:spPr>
          <a:xfrm>
            <a:off x="635794" y="266700"/>
            <a:ext cx="44926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50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11170" r="-11170" t="0" b="0"/>
          <a:stretch/>
        </p:blipFill>
        <p:spPr>
          <a:xfrm>
            <a:off x="10655459" y="190500"/>
            <a:ext cx="361950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93609" y="279718"/>
            <a:ext cx="71739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-11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AlgoNova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2679245" y="800100"/>
            <a:ext cx="6833351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spc="-66" kern="0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complementary, committed team.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685800" y="1621155"/>
            <a:ext cx="2547938" cy="2285365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114300" dist="19050" dir="54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02569" y="1915636"/>
            <a:ext cx="914400" cy="914400"/>
          </a:xfrm>
          <a:prstGeom prst="ellipse">
            <a:avLst/>
          </a:prstGeom>
          <a:solidFill>
            <a:srgbClr val="006837"/>
          </a:solidFill>
          <a:ln/>
        </p:spPr>
      </p:sp>
      <p:sp>
        <p:nvSpPr>
          <p:cNvPr id="9" name="Text 6"/>
          <p:cNvSpPr/>
          <p:nvPr/>
        </p:nvSpPr>
        <p:spPr>
          <a:xfrm>
            <a:off x="1726883" y="2215674"/>
            <a:ext cx="4657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</a:t>
            </a:r>
            <a:endParaRPr lang="en-US" sz="1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6938" b="6938"/>
          <a:stretch/>
        </p:blipFill>
        <p:spPr>
          <a:xfrm>
            <a:off x="1502569" y="1915636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06329" y="2982436"/>
            <a:ext cx="170688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Ounimborbitibou Djabon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195546" y="3218180"/>
            <a:ext cx="152828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· Data Science</a:t>
            </a:r>
            <a:endParaRPr lang="en-US" sz="938" dirty="0"/>
          </a:p>
        </p:txBody>
      </p:sp>
      <p:sp>
        <p:nvSpPr>
          <p:cNvPr id="13" name="Text 9"/>
          <p:cNvSpPr/>
          <p:nvPr/>
        </p:nvSpPr>
        <p:spPr>
          <a:xfrm>
            <a:off x="1388586" y="3458686"/>
            <a:ext cx="1142206" cy="191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Ghana · ML / AI</a:t>
            </a:r>
            <a:endParaRPr lang="en-US" sz="863" dirty="0"/>
          </a:p>
        </p:txBody>
      </p:sp>
      <p:sp>
        <p:nvSpPr>
          <p:cNvPr id="14" name="Shape 10"/>
          <p:cNvSpPr/>
          <p:nvPr/>
        </p:nvSpPr>
        <p:spPr>
          <a:xfrm>
            <a:off x="3443288" y="1621155"/>
            <a:ext cx="2547938" cy="2285365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114300" dist="1905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60056" y="1915636"/>
            <a:ext cx="914400" cy="914400"/>
          </a:xfrm>
          <a:prstGeom prst="ellipse">
            <a:avLst/>
          </a:prstGeom>
          <a:solidFill>
            <a:srgbClr val="006837"/>
          </a:solidFill>
          <a:ln/>
        </p:spPr>
      </p:sp>
      <p:sp>
        <p:nvSpPr>
          <p:cNvPr id="16" name="Text 12"/>
          <p:cNvSpPr/>
          <p:nvPr/>
        </p:nvSpPr>
        <p:spPr>
          <a:xfrm>
            <a:off x="4507230" y="2215674"/>
            <a:ext cx="4198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</a:t>
            </a:r>
            <a:endParaRPr lang="en-US" sz="1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4074" b="4074"/>
          <a:stretch/>
        </p:blipFill>
        <p:spPr>
          <a:xfrm>
            <a:off x="4260056" y="1915636"/>
            <a:ext cx="914400" cy="914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84015" y="2982436"/>
            <a:ext cx="1066324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Roland Houkpè</a:t>
            </a:r>
            <a:endParaRPr lang="en-US" sz="1125" dirty="0"/>
          </a:p>
        </p:txBody>
      </p:sp>
      <p:sp>
        <p:nvSpPr>
          <p:cNvPr id="19" name="Text 14"/>
          <p:cNvSpPr/>
          <p:nvPr/>
        </p:nvSpPr>
        <p:spPr>
          <a:xfrm>
            <a:off x="4208304" y="3218180"/>
            <a:ext cx="101790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Developer</a:t>
            </a:r>
            <a:endParaRPr lang="en-US" sz="938" dirty="0"/>
          </a:p>
        </p:txBody>
      </p:sp>
      <p:sp>
        <p:nvSpPr>
          <p:cNvPr id="20" name="Text 15"/>
          <p:cNvSpPr/>
          <p:nvPr/>
        </p:nvSpPr>
        <p:spPr>
          <a:xfrm>
            <a:off x="4021296" y="3458686"/>
            <a:ext cx="1391920" cy="191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Backend · Python</a:t>
            </a:r>
            <a:endParaRPr lang="en-US" sz="863" dirty="0"/>
          </a:p>
        </p:txBody>
      </p:sp>
      <p:sp>
        <p:nvSpPr>
          <p:cNvPr id="21" name="Shape 16"/>
          <p:cNvSpPr/>
          <p:nvPr/>
        </p:nvSpPr>
        <p:spPr>
          <a:xfrm>
            <a:off x="6200775" y="1621155"/>
            <a:ext cx="2547938" cy="2285365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114300" dist="19050" dir="54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17544" y="1915636"/>
            <a:ext cx="914400" cy="914400"/>
          </a:xfrm>
          <a:prstGeom prst="ellipse">
            <a:avLst/>
          </a:prstGeom>
          <a:solidFill>
            <a:srgbClr val="006837"/>
          </a:solidFill>
          <a:ln/>
        </p:spPr>
      </p:sp>
      <p:sp>
        <p:nvSpPr>
          <p:cNvPr id="23" name="Text 18"/>
          <p:cNvSpPr/>
          <p:nvPr/>
        </p:nvSpPr>
        <p:spPr>
          <a:xfrm>
            <a:off x="7249001" y="2215674"/>
            <a:ext cx="4513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1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17544" y="1915636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56425" y="2982436"/>
            <a:ext cx="103663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Marthe Tossou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6993890" y="3218180"/>
            <a:ext cx="96154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/ UI Designer</a:t>
            </a:r>
            <a:endParaRPr lang="en-US" sz="938" dirty="0"/>
          </a:p>
        </p:txBody>
      </p:sp>
      <p:sp>
        <p:nvSpPr>
          <p:cNvPr id="27" name="Text 21"/>
          <p:cNvSpPr/>
          <p:nvPr/>
        </p:nvSpPr>
        <p:spPr>
          <a:xfrm>
            <a:off x="6611302" y="3458686"/>
            <a:ext cx="1726724" cy="191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Design · User Experience</a:t>
            </a:r>
            <a:endParaRPr lang="en-US" sz="863" dirty="0"/>
          </a:p>
        </p:txBody>
      </p:sp>
      <p:sp>
        <p:nvSpPr>
          <p:cNvPr id="28" name="Shape 22"/>
          <p:cNvSpPr/>
          <p:nvPr/>
        </p:nvSpPr>
        <p:spPr>
          <a:xfrm>
            <a:off x="8958263" y="1621155"/>
            <a:ext cx="2547938" cy="2285365"/>
          </a:xfrm>
          <a:prstGeom prst="roundRect">
            <a:avLst>
              <a:gd name="adj" fmla="val 6669"/>
            </a:avLst>
          </a:prstGeom>
          <a:solidFill>
            <a:srgbClr val="FFFFFF"/>
          </a:solidFill>
          <a:ln w="8731">
            <a:solidFill>
              <a:srgbClr val="E8EAED"/>
            </a:solidFill>
            <a:prstDash val="solid"/>
          </a:ln>
          <a:effectLst>
            <a:outerShdw sx="100000" sy="100000" kx="0" ky="0" algn="bl" rotWithShape="0" blurRad="114300" dist="19050" dir="5400000">
              <a:srgbClr val="000000">
                <a:alpha val="7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775031" y="1915636"/>
            <a:ext cx="914400" cy="914400"/>
          </a:xfrm>
          <a:prstGeom prst="ellipse">
            <a:avLst/>
          </a:prstGeom>
          <a:solidFill>
            <a:srgbClr val="006837"/>
          </a:solidFill>
          <a:ln/>
        </p:spPr>
      </p:sp>
      <p:sp>
        <p:nvSpPr>
          <p:cNvPr id="30" name="Text 24"/>
          <p:cNvSpPr/>
          <p:nvPr/>
        </p:nvSpPr>
        <p:spPr>
          <a:xfrm>
            <a:off x="10027126" y="2215674"/>
            <a:ext cx="4100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</a:t>
            </a:r>
            <a:endParaRPr lang="en-US" sz="19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2838" b="2838"/>
          <a:stretch/>
        </p:blipFill>
        <p:spPr>
          <a:xfrm>
            <a:off x="9775031" y="1915636"/>
            <a:ext cx="914400" cy="9144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54552" y="2982436"/>
            <a:ext cx="955199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Esther Kolani</a:t>
            </a:r>
            <a:endParaRPr lang="en-US" sz="1125" dirty="0"/>
          </a:p>
        </p:txBody>
      </p:sp>
      <p:sp>
        <p:nvSpPr>
          <p:cNvPr id="33" name="Text 26"/>
          <p:cNvSpPr/>
          <p:nvPr/>
        </p:nvSpPr>
        <p:spPr>
          <a:xfrm>
            <a:off x="9426575" y="3218180"/>
            <a:ext cx="161115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006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Communication</a:t>
            </a:r>
            <a:endParaRPr lang="en-US" sz="938" dirty="0"/>
          </a:p>
        </p:txBody>
      </p:sp>
      <p:sp>
        <p:nvSpPr>
          <p:cNvPr id="34" name="Text 27"/>
          <p:cNvSpPr/>
          <p:nvPr/>
        </p:nvSpPr>
        <p:spPr>
          <a:xfrm>
            <a:off x="9295606" y="3458686"/>
            <a:ext cx="1873091" cy="191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· Go-to-market · Partnerships</a:t>
            </a:r>
            <a:endParaRPr lang="en-US" sz="863" dirty="0"/>
          </a:p>
        </p:txBody>
      </p:sp>
      <p:sp>
        <p:nvSpPr>
          <p:cNvPr id="35" name="Shape 28"/>
          <p:cNvSpPr/>
          <p:nvPr/>
        </p:nvSpPr>
        <p:spPr>
          <a:xfrm>
            <a:off x="685800" y="5675312"/>
            <a:ext cx="10820400" cy="573088"/>
          </a:xfrm>
          <a:prstGeom prst="roundRect">
            <a:avLst>
              <a:gd name="adj" fmla="val 26593"/>
            </a:avLst>
          </a:prstGeom>
          <a:solidFill>
            <a:srgbClr val="006837"/>
          </a:solidFill>
          <a:ln/>
        </p:spPr>
      </p:sp>
      <p:sp>
        <p:nvSpPr>
          <p:cNvPr id="36" name="Text 29"/>
          <p:cNvSpPr/>
          <p:nvPr/>
        </p:nvSpPr>
        <p:spPr>
          <a:xfrm>
            <a:off x="790194" y="5865812"/>
            <a:ext cx="10611612" cy="230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AIMS Ghana · SmartFarm Togo · CcHub West Africa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557318" y="6508750"/>
            <a:ext cx="46323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8B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59998" y="1371441"/>
            <a:ext cx="2071846" cy="1952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76" kern="0" dirty="0">
                <a:solidFill>
                  <a:srgbClr val="F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ASKING FOR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75485" y="1661954"/>
            <a:ext cx="8241030" cy="1043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give every Togolese student the same chances.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143500" y="2953544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D97700"/>
          </a:solidFill>
          <a:ln/>
        </p:spPr>
      </p:sp>
      <p:sp>
        <p:nvSpPr>
          <p:cNvPr id="6" name="Shape 4"/>
          <p:cNvSpPr/>
          <p:nvPr/>
        </p:nvSpPr>
        <p:spPr>
          <a:xfrm>
            <a:off x="1714500" y="3267869"/>
            <a:ext cx="2806700" cy="1417638"/>
          </a:xfrm>
          <a:prstGeom prst="roundRect">
            <a:avLst>
              <a:gd name="adj" fmla="val 10750"/>
            </a:avLst>
          </a:prstGeom>
          <a:solidFill>
            <a:srgbClr val="FFFFFF">
              <a:alpha val="8000"/>
            </a:srgbClr>
          </a:solidFill>
          <a:ln w="873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4975" y="3524250"/>
            <a:ext cx="285750" cy="285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5631" y="3976687"/>
            <a:ext cx="2484437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MVP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875631" y="4242594"/>
            <a:ext cx="2484437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61"/>
              </a:lnSpc>
              <a:buNone/>
            </a:pPr>
            <a:r>
              <a:rPr lang="en-US" sz="1013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Android app in 3 months</a:t>
            </a:r>
            <a:endParaRPr lang="en-US" sz="1013" dirty="0"/>
          </a:p>
        </p:txBody>
      </p:sp>
      <p:sp>
        <p:nvSpPr>
          <p:cNvPr id="10" name="Shape 7"/>
          <p:cNvSpPr/>
          <p:nvPr/>
        </p:nvSpPr>
        <p:spPr>
          <a:xfrm>
            <a:off x="4692650" y="3267869"/>
            <a:ext cx="2806700" cy="1417638"/>
          </a:xfrm>
          <a:prstGeom prst="roundRect">
            <a:avLst>
              <a:gd name="adj" fmla="val 10750"/>
            </a:avLst>
          </a:prstGeom>
          <a:solidFill>
            <a:srgbClr val="FFFFFF">
              <a:alpha val="8000"/>
            </a:srgbClr>
          </a:solidFill>
          <a:ln w="873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3524250"/>
            <a:ext cx="285750" cy="285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53781" y="3976687"/>
            <a:ext cx="2484438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5 schools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53781" y="4242594"/>
            <a:ext cx="2484438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61"/>
              </a:lnSpc>
              <a:buNone/>
            </a:pPr>
            <a:r>
              <a:rPr lang="en-US" sz="1013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student testers in Lomé</a:t>
            </a:r>
            <a:endParaRPr lang="en-US" sz="1013" dirty="0"/>
          </a:p>
        </p:txBody>
      </p:sp>
      <p:sp>
        <p:nvSpPr>
          <p:cNvPr id="14" name="Shape 10"/>
          <p:cNvSpPr/>
          <p:nvPr/>
        </p:nvSpPr>
        <p:spPr>
          <a:xfrm>
            <a:off x="7670800" y="3267869"/>
            <a:ext cx="2806700" cy="1417638"/>
          </a:xfrm>
          <a:prstGeom prst="roundRect">
            <a:avLst>
              <a:gd name="adj" fmla="val 10750"/>
            </a:avLst>
          </a:prstGeom>
          <a:solidFill>
            <a:srgbClr val="FFFFFF">
              <a:alpha val="8000"/>
            </a:srgbClr>
          </a:solidFill>
          <a:ln w="8731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275" y="3524250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31931" y="3976687"/>
            <a:ext cx="2484437" cy="256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raise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831931" y="4242594"/>
            <a:ext cx="2484437" cy="224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61"/>
              </a:lnSpc>
              <a:buNone/>
            </a:pPr>
            <a:r>
              <a:rPr lang="en-US" sz="1013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CcHub funding opportunities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4906645" y="5009356"/>
            <a:ext cx="2378551" cy="265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examboosttogo@gmail.com</a:t>
            </a:r>
            <a:endParaRPr lang="en-US" sz="1425" dirty="0"/>
          </a:p>
        </p:txBody>
      </p:sp>
      <p:sp>
        <p:nvSpPr>
          <p:cNvPr id="19" name="Text 14"/>
          <p:cNvSpPr/>
          <p:nvPr/>
        </p:nvSpPr>
        <p:spPr>
          <a:xfrm>
            <a:off x="4973162" y="5303044"/>
            <a:ext cx="2245519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github.com/djabelo712/examboost-togo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2026-06-14T08:43:48Z</dcterms:created>
  <dcterms:modified xsi:type="dcterms:W3CDTF">2026-06-14T08:43:48Z</dcterms:modified>
</cp:coreProperties>
</file>